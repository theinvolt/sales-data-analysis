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EB Garamond" pitchFamily="18" charset="0"/>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revenue is about 8.7 billion dollars a year with a 29.5 percent margin, and it has not grown. The question for today: if we cannot count on volume growth, where can profit come from? Note up front that the dataset is a public practice dataset that its publisher says is randomly generated, so treat the findings as a method to repeat on real company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plain. The data is 50,000 orders over seven and a half years. We confirmed it is internally consistent: revenue minus cost equals profit on every row, nothing is missing, nothing is duplicated. The one caution is on the slide: it is a practice dataset that was generated by a program, so every finding should be confirmed on real company data before money is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what a product is decides its margin; where or how it is sold does not move it. Two: ranking by revenue would send attention to Office Supplies and Meat, which together earn far less profit than their sales suggest. Three: sales are flat, so growth has to come from mix, price or service. Four: orders marked Critical ship no faster than Low ones. The 2017 drop is an artefact of the data ending in July.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chart. Grey is each category's share of revenue, green is its share of profit. Where green is longer than grey, the category earns more than its sales suggest: Cosmetics, Clothes, Baby Food, Cereal. Where grey is longer, it earns less: Office Supplies, Meat, Household. Prices and costs in this dataset are fixed per category, so margin is a property of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Ranked by impact and ease. Pricing is first because it needs no new customers and can be piloted in a quarter. The mix shift is bigger in potential but depends on customers actually buying more of the high-margin products, so it needs a test. Priority targets are a process fix with mostly service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Dollar figures are what the same lever would have added per year across the 7.6 years in the data. They assume customers keep buying at the new price or mix, which this dataset cannot tell us, so they are upper-bound arithmetic. The break-even line is the useful number: price rises of 5 percent are still profitable unless volume drops by more than about a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conclusion we cannot draw: that raising prices will raise profit in practice. Price is fixed within each product in this file, so there is no evidence on how volume reacts. That is why the first recommendation is a pilot, not a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62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426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62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426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E"/>
        </a:solidFill>
      </p:bgPr>
    </p:bg>
    <p:spTree>
      <p:nvGrpSpPr>
        <p:cNvPr id="1" name=""/>
        <p:cNvGrpSpPr/>
        <p:nvPr/>
      </p:nvGrpSpPr>
      <p:grpSpPr>
        <a:xfrm>
          <a:off x="0" y="0"/>
          <a:ext cx="0" cy="0"/>
          <a:chOff x="0" y="0"/>
          <a:chExt cx="0" cy="0"/>
        </a:xfrm>
      </p:grpSpPr>
      <p:sp>
        <p:nvSpPr>
          <p:cNvPr id="2" name="Text 0"/>
          <p:cNvSpPr/>
          <p:nvPr/>
        </p:nvSpPr>
        <p:spPr>
          <a:xfrm>
            <a:off x="812800" y="812800"/>
            <a:ext cx="10883392" cy="77216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8A33D"/>
                </a:solidFill>
                <a:latin typeface="IBM Plex Sans" pitchFamily="34" charset="0"/>
                <a:ea typeface="IBM Plex Sans" pitchFamily="34" charset="-122"/>
                <a:cs typeface="IBM Plex Sans" pitchFamily="34" charset="-120"/>
              </a:rPr>
              <a:t>MANAGEMENT BRIEFING · SALES PROFIT REVIEW </a:t>
            </a:r>
            <a:endParaRPr lang="en-US" sz="1400" dirty="0"/>
          </a:p>
          <a:p>
            <a:pPr algn="l" indent="0" marL="0">
              <a:lnSpc>
                <a:spcPts val="1960"/>
              </a:lnSpc>
              <a:buNone/>
            </a:pPr>
            <a:endParaRPr lang="en-US" sz="1400" dirty="0"/>
          </a:p>
          <a:p>
            <a:pPr algn="l" indent="0" marL="0">
              <a:lnSpc>
                <a:spcPts val="1960"/>
              </a:lnSpc>
              <a:buNone/>
            </a:pPr>
            <a:r>
              <a:rPr lang="en-US" sz="1400" b="1" spc="200" kern="0" dirty="0">
                <a:solidFill>
                  <a:srgbClr val="FFFDF8"/>
                </a:solidFill>
                <a:latin typeface="IBM Plex Sans" pitchFamily="34" charset="0"/>
                <a:ea typeface="IBM Plex Sans" pitchFamily="34" charset="-122"/>
                <a:cs typeface="IBM Plex Sans" pitchFamily="34" charset="-120"/>
              </a:rPr>
              <a:t>BY SUROMYA GHOSH DASTIDAR</a:t>
            </a:r>
            <a:endParaRPr lang="en-US" sz="1400" dirty="0"/>
          </a:p>
        </p:txBody>
      </p:sp>
      <p:sp>
        <p:nvSpPr>
          <p:cNvPr id="3" name="Text 1"/>
          <p:cNvSpPr/>
          <p:nvPr>
            <p:ph type="title"/>
          </p:nvPr>
        </p:nvSpPr>
        <p:spPr>
          <a:xfrm>
            <a:off x="812800" y="19304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4F1EA"/>
                </a:solidFill>
                <a:latin typeface="EB Garamond" pitchFamily="18" charset="0"/>
                <a:ea typeface="EB Garamond" pitchFamily="18" charset="-122"/>
                <a:cs typeface="EB Garamond" pitchFamily="18" charset="-120"/>
              </a:rPr>
              <a:t>Where does our profit really come from?</a:t>
            </a:r>
            <a:endParaRPr lang="en-US" sz="6000" dirty="0"/>
          </a:p>
        </p:txBody>
      </p:sp>
      <p:sp>
        <p:nvSpPr>
          <p:cNvPr id="4" name="Text 2"/>
          <p:cNvSpPr/>
          <p:nvPr/>
        </p:nvSpPr>
        <p:spPr>
          <a:xfrm>
            <a:off x="812800" y="3733800"/>
            <a:ext cx="91567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8D5"/>
                </a:solidFill>
                <a:latin typeface="IBM Plex Sans" pitchFamily="34" charset="0"/>
                <a:ea typeface="IBM Plex Sans" pitchFamily="34" charset="-122"/>
                <a:cs typeface="IBM Plex Sans" pitchFamily="34" charset="-120"/>
              </a:rPr>
              <a:t>Revenue has been flat for seven years. We studied 50,000 orders to find what actually moves profit.</a:t>
            </a:r>
            <a:endParaRPr lang="en-US" sz="2000" dirty="0"/>
          </a:p>
        </p:txBody>
      </p:sp>
      <p:sp>
        <p:nvSpPr>
          <p:cNvPr id="5" name="Shape 3"/>
          <p:cNvSpPr/>
          <p:nvPr/>
        </p:nvSpPr>
        <p:spPr>
          <a:xfrm>
            <a:off x="812800" y="4825365"/>
            <a:ext cx="3386614" cy="0"/>
          </a:xfrm>
          <a:prstGeom prst="line">
            <a:avLst/>
          </a:prstGeom>
          <a:noFill/>
          <a:ln w="19050">
            <a:solidFill>
              <a:srgbClr val="E8A33D"/>
            </a:solidFill>
            <a:prstDash val="solid"/>
          </a:ln>
        </p:spPr>
      </p:sp>
      <p:sp>
        <p:nvSpPr>
          <p:cNvPr id="6" name="Text 4"/>
          <p:cNvSpPr/>
          <p:nvPr/>
        </p:nvSpPr>
        <p:spPr>
          <a:xfrm>
            <a:off x="812800" y="4983480"/>
            <a:ext cx="3488212"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4F1EA"/>
                </a:solidFill>
                <a:latin typeface="IBM Plex Sans" pitchFamily="34" charset="0"/>
                <a:ea typeface="IBM Plex Sans" pitchFamily="34" charset="-122"/>
                <a:cs typeface="IBM Plex Sans" pitchFamily="34" charset="-120"/>
              </a:rPr>
              <a:t>$8.7B</a:t>
            </a:r>
            <a:endParaRPr lang="en-US" sz="4000" dirty="0"/>
          </a:p>
        </p:txBody>
      </p:sp>
      <p:sp>
        <p:nvSpPr>
          <p:cNvPr id="7" name="Text 5"/>
          <p:cNvSpPr/>
          <p:nvPr/>
        </p:nvSpPr>
        <p:spPr>
          <a:xfrm>
            <a:off x="812800" y="5593080"/>
            <a:ext cx="348821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8D5"/>
                </a:solidFill>
                <a:latin typeface="IBM Plex Sans" pitchFamily="34" charset="0"/>
                <a:ea typeface="IBM Plex Sans" pitchFamily="34" charset="-122"/>
                <a:cs typeface="IBM Plex Sans" pitchFamily="34" charset="-120"/>
              </a:rPr>
              <a:t>revenue a year, on average</a:t>
            </a:r>
            <a:endParaRPr lang="en-US" sz="1400" dirty="0"/>
          </a:p>
        </p:txBody>
      </p:sp>
      <p:sp>
        <p:nvSpPr>
          <p:cNvPr id="8" name="Shape 6"/>
          <p:cNvSpPr/>
          <p:nvPr/>
        </p:nvSpPr>
        <p:spPr>
          <a:xfrm>
            <a:off x="4402614" y="4825365"/>
            <a:ext cx="3386693" cy="0"/>
          </a:xfrm>
          <a:prstGeom prst="line">
            <a:avLst/>
          </a:prstGeom>
          <a:noFill/>
          <a:ln w="19050">
            <a:solidFill>
              <a:srgbClr val="E8A33D"/>
            </a:solidFill>
            <a:prstDash val="solid"/>
          </a:ln>
        </p:spPr>
      </p:sp>
      <p:sp>
        <p:nvSpPr>
          <p:cNvPr id="9" name="Text 7"/>
          <p:cNvSpPr/>
          <p:nvPr/>
        </p:nvSpPr>
        <p:spPr>
          <a:xfrm>
            <a:off x="4402614" y="4983480"/>
            <a:ext cx="3488294"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4F1EA"/>
                </a:solidFill>
                <a:latin typeface="IBM Plex Sans" pitchFamily="34" charset="0"/>
                <a:ea typeface="IBM Plex Sans" pitchFamily="34" charset="-122"/>
                <a:cs typeface="IBM Plex Sans" pitchFamily="34" charset="-120"/>
              </a:rPr>
              <a:t>29.5%</a:t>
            </a:r>
            <a:endParaRPr lang="en-US" sz="4000" dirty="0"/>
          </a:p>
        </p:txBody>
      </p:sp>
      <p:sp>
        <p:nvSpPr>
          <p:cNvPr id="10" name="Text 8"/>
          <p:cNvSpPr/>
          <p:nvPr/>
        </p:nvSpPr>
        <p:spPr>
          <a:xfrm>
            <a:off x="4402614" y="5593080"/>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8D5"/>
                </a:solidFill>
                <a:latin typeface="IBM Plex Sans" pitchFamily="34" charset="0"/>
                <a:ea typeface="IBM Plex Sans" pitchFamily="34" charset="-122"/>
                <a:cs typeface="IBM Plex Sans" pitchFamily="34" charset="-120"/>
              </a:rPr>
              <a:t>profit margin overall</a:t>
            </a:r>
            <a:endParaRPr lang="en-US" sz="1400" dirty="0"/>
          </a:p>
        </p:txBody>
      </p:sp>
      <p:sp>
        <p:nvSpPr>
          <p:cNvPr id="11" name="Shape 9"/>
          <p:cNvSpPr/>
          <p:nvPr/>
        </p:nvSpPr>
        <p:spPr>
          <a:xfrm>
            <a:off x="7992507" y="4825365"/>
            <a:ext cx="3386693" cy="0"/>
          </a:xfrm>
          <a:prstGeom prst="line">
            <a:avLst/>
          </a:prstGeom>
          <a:noFill/>
          <a:ln w="19050">
            <a:solidFill>
              <a:srgbClr val="E8A33D"/>
            </a:solidFill>
            <a:prstDash val="solid"/>
          </a:ln>
        </p:spPr>
      </p:sp>
      <p:sp>
        <p:nvSpPr>
          <p:cNvPr id="12" name="Text 10"/>
          <p:cNvSpPr/>
          <p:nvPr/>
        </p:nvSpPr>
        <p:spPr>
          <a:xfrm>
            <a:off x="7992507" y="4983480"/>
            <a:ext cx="3488294"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4F1EA"/>
                </a:solidFill>
                <a:latin typeface="IBM Plex Sans" pitchFamily="34" charset="0"/>
                <a:ea typeface="IBM Plex Sans" pitchFamily="34" charset="-122"/>
                <a:cs typeface="IBM Plex Sans" pitchFamily="34" charset="-120"/>
              </a:rPr>
              <a:t>+0.3%</a:t>
            </a:r>
            <a:endParaRPr lang="en-US" sz="4000" dirty="0"/>
          </a:p>
        </p:txBody>
      </p:sp>
      <p:sp>
        <p:nvSpPr>
          <p:cNvPr id="13" name="Text 11"/>
          <p:cNvSpPr/>
          <p:nvPr/>
        </p:nvSpPr>
        <p:spPr>
          <a:xfrm>
            <a:off x="7992507" y="5593080"/>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8D5"/>
                </a:solidFill>
                <a:latin typeface="IBM Plex Sans" pitchFamily="34" charset="0"/>
                <a:ea typeface="IBM Plex Sans" pitchFamily="34" charset="-122"/>
                <a:cs typeface="IBM Plex Sans" pitchFamily="34" charset="-120"/>
              </a:rPr>
              <a:t>revenue growth a year, 2010 to 2016</a:t>
            </a:r>
            <a:endParaRPr lang="en-US" sz="1400" dirty="0"/>
          </a:p>
        </p:txBody>
      </p:sp>
      <p:sp>
        <p:nvSpPr>
          <p:cNvPr id="14" name="Text 12"/>
          <p:cNvSpPr/>
          <p:nvPr/>
        </p:nvSpPr>
        <p:spPr>
          <a:xfrm>
            <a:off x="812800" y="623824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5B1"/>
                </a:solidFill>
                <a:latin typeface="IBM Plex Sans" pitchFamily="34" charset="0"/>
                <a:ea typeface="IBM Plex Sans" pitchFamily="34" charset="-122"/>
                <a:cs typeface="IBM Plex Sans" pitchFamily="34" charset="-120"/>
              </a:rPr>
              <a:t>50,000 orders · Jan 2010 to Jul 2017 · Dataset is synthetic, so findings describe this dataset</a:t>
            </a:r>
            <a:endParaRPr lang="en-US" sz="1200" dirty="0"/>
          </a:p>
        </p:txBody>
      </p:sp>
      <p:sp>
        <p:nvSpPr>
          <p:cNvPr id="15" name="Text 13"/>
          <p:cNvSpPr/>
          <p:nvPr/>
        </p:nvSpPr>
        <p:spPr>
          <a:xfrm>
            <a:off x="10312400" y="6238240"/>
            <a:ext cx="1066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5B1"/>
                </a:solidFill>
                <a:latin typeface="IBM Plex Sans" pitchFamily="34" charset="0"/>
                <a:ea typeface="IBM Plex Sans" pitchFamily="34" charset="-122"/>
                <a:cs typeface="IBM Plex Sans" pitchFamily="34" charset="-120"/>
              </a:rPr>
              <a:t>1 / 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62A"/>
                </a:solidFill>
                <a:latin typeface="EB Garamond" pitchFamily="18" charset="0"/>
                <a:ea typeface="EB Garamond" pitchFamily="18" charset="-122"/>
                <a:cs typeface="EB Garamond" pitchFamily="18" charset="-120"/>
              </a:rPr>
              <a:t>What we analysed and how</a:t>
            </a:r>
            <a:endParaRPr lang="en-US" sz="3600" dirty="0"/>
          </a:p>
        </p:txBody>
      </p:sp>
      <p:sp>
        <p:nvSpPr>
          <p:cNvPr id="3" name="Shape 1"/>
          <p:cNvSpPr/>
          <p:nvPr/>
        </p:nvSpPr>
        <p:spPr>
          <a:xfrm>
            <a:off x="815975" y="1623695"/>
            <a:ext cx="3380264" cy="2655570"/>
          </a:xfrm>
          <a:prstGeom prst="roundRect">
            <a:avLst>
              <a:gd name="adj" fmla="val 3706"/>
            </a:avLst>
          </a:prstGeom>
          <a:solidFill>
            <a:srgbClr val="FFFDF8"/>
          </a:solidFill>
          <a:ln w="6350">
            <a:solidFill>
              <a:srgbClr val="D9D6CC"/>
            </a:solidFill>
            <a:prstDash val="solid"/>
          </a:ln>
        </p:spPr>
      </p:sp>
      <p:sp>
        <p:nvSpPr>
          <p:cNvPr id="4" name="Text 2"/>
          <p:cNvSpPr/>
          <p:nvPr/>
        </p:nvSpPr>
        <p:spPr>
          <a:xfrm>
            <a:off x="1071880" y="187960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66E"/>
                </a:solidFill>
                <a:latin typeface="IBM Plex Sans" pitchFamily="34" charset="0"/>
                <a:ea typeface="IBM Plex Sans" pitchFamily="34" charset="-122"/>
                <a:cs typeface="IBM Plex Sans" pitchFamily="34" charset="-120"/>
              </a:rPr>
              <a:t>The data</a:t>
            </a:r>
            <a:endParaRPr lang="en-US" sz="1800" dirty="0"/>
          </a:p>
        </p:txBody>
      </p:sp>
      <p:sp>
        <p:nvSpPr>
          <p:cNvPr id="5" name="Text 3"/>
          <p:cNvSpPr/>
          <p:nvPr/>
        </p:nvSpPr>
        <p:spPr>
          <a:xfrm>
            <a:off x="1150112" y="2280920"/>
            <a:ext cx="2868655" cy="176784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50,000 orders, Jan 2010 to Jul 2017</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12 product categories</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7 regions, 185 countries</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Online and Offline sales</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Revenue, cost and profit per order</a:t>
            </a:r>
            <a:endParaRPr lang="en-US" sz="1400" dirty="0"/>
          </a:p>
        </p:txBody>
      </p:sp>
      <p:sp>
        <p:nvSpPr>
          <p:cNvPr id="6" name="Shape 4"/>
          <p:cNvSpPr/>
          <p:nvPr/>
        </p:nvSpPr>
        <p:spPr>
          <a:xfrm>
            <a:off x="4405789" y="1623695"/>
            <a:ext cx="3380343" cy="2655570"/>
          </a:xfrm>
          <a:prstGeom prst="roundRect">
            <a:avLst>
              <a:gd name="adj" fmla="val 3706"/>
            </a:avLst>
          </a:prstGeom>
          <a:solidFill>
            <a:srgbClr val="FFFDF8"/>
          </a:solidFill>
          <a:ln w="6350">
            <a:solidFill>
              <a:srgbClr val="D9D6CC"/>
            </a:solidFill>
            <a:prstDash val="solid"/>
          </a:ln>
        </p:spPr>
      </p:sp>
      <p:sp>
        <p:nvSpPr>
          <p:cNvPr id="7" name="Text 5"/>
          <p:cNvSpPr/>
          <p:nvPr/>
        </p:nvSpPr>
        <p:spPr>
          <a:xfrm>
            <a:off x="4661694" y="18796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66E"/>
                </a:solidFill>
                <a:latin typeface="IBM Plex Sans" pitchFamily="34" charset="0"/>
                <a:ea typeface="IBM Plex Sans" pitchFamily="34" charset="-122"/>
                <a:cs typeface="IBM Plex Sans" pitchFamily="34" charset="-120"/>
              </a:rPr>
              <a:t>How we checked it</a:t>
            </a:r>
            <a:endParaRPr lang="en-US" sz="1800" dirty="0"/>
          </a:p>
        </p:txBody>
      </p:sp>
      <p:sp>
        <p:nvSpPr>
          <p:cNvPr id="8" name="Text 6"/>
          <p:cNvSpPr/>
          <p:nvPr/>
        </p:nvSpPr>
        <p:spPr>
          <a:xfrm>
            <a:off x="4739926" y="2280920"/>
            <a:ext cx="2868737" cy="151892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No missing values or duplicates</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Revenue, cost and profit tie out on every row</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Dates fixed; 2017 flagged as a part year</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Large orders kept, not deleted</a:t>
            </a:r>
            <a:endParaRPr lang="en-US" sz="1400" dirty="0"/>
          </a:p>
        </p:txBody>
      </p:sp>
      <p:sp>
        <p:nvSpPr>
          <p:cNvPr id="9" name="Shape 7"/>
          <p:cNvSpPr/>
          <p:nvPr/>
        </p:nvSpPr>
        <p:spPr>
          <a:xfrm>
            <a:off x="7995682" y="1623695"/>
            <a:ext cx="3380343" cy="2655570"/>
          </a:xfrm>
          <a:prstGeom prst="roundRect">
            <a:avLst>
              <a:gd name="adj" fmla="val 3706"/>
            </a:avLst>
          </a:prstGeom>
          <a:solidFill>
            <a:srgbClr val="FFFDF8"/>
          </a:solidFill>
          <a:ln w="6350">
            <a:solidFill>
              <a:srgbClr val="D9D6CC"/>
            </a:solidFill>
            <a:prstDash val="solid"/>
          </a:ln>
        </p:spPr>
      </p:sp>
      <p:sp>
        <p:nvSpPr>
          <p:cNvPr id="10" name="Text 8"/>
          <p:cNvSpPr/>
          <p:nvPr/>
        </p:nvSpPr>
        <p:spPr>
          <a:xfrm>
            <a:off x="8251587" y="18796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66E"/>
                </a:solidFill>
                <a:latin typeface="IBM Plex Sans" pitchFamily="34" charset="0"/>
                <a:ea typeface="IBM Plex Sans" pitchFamily="34" charset="-122"/>
                <a:cs typeface="IBM Plex Sans" pitchFamily="34" charset="-120"/>
              </a:rPr>
              <a:t>How we analysed it</a:t>
            </a:r>
            <a:endParaRPr lang="en-US" sz="1800" dirty="0"/>
          </a:p>
        </p:txBody>
      </p:sp>
      <p:sp>
        <p:nvSpPr>
          <p:cNvPr id="11" name="Text 9"/>
          <p:cNvSpPr/>
          <p:nvPr/>
        </p:nvSpPr>
        <p:spPr>
          <a:xfrm>
            <a:off x="8329819" y="2280920"/>
            <a:ext cx="2868737" cy="176784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Profit and margin by product, region, channel and priority</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Trend and seasonality</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Statistical tests on five hypotheses</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What-if sizing of price and mix levers</a:t>
            </a:r>
            <a:endParaRPr lang="en-US" sz="1400" dirty="0"/>
          </a:p>
        </p:txBody>
      </p:sp>
      <p:sp>
        <p:nvSpPr>
          <p:cNvPr id="12" name="Text 10"/>
          <p:cNvSpPr/>
          <p:nvPr/>
        </p:nvSpPr>
        <p:spPr>
          <a:xfrm>
            <a:off x="812800" y="4587240"/>
            <a:ext cx="10566400" cy="853440"/>
          </a:xfrm>
          <a:prstGeom prst="roundRect">
            <a:avLst>
              <a:gd name="adj" fmla="val 5952"/>
            </a:avLst>
          </a:prstGeom>
          <a:solidFill>
            <a:srgbClr val="FBE9CF"/>
          </a:solidFill>
          <a:ln/>
        </p:spPr>
        <p:txBody>
          <a:bodyPr wrap="square" lIns="264521" tIns="162921" rIns="0" bIns="137521" rtlCol="0" anchor="t">
            <a:normAutofit/>
          </a:bodyPr>
          <a:lstStyle/>
          <a:p>
            <a:pPr algn="l" indent="0" marL="0">
              <a:lnSpc>
                <a:spcPts val="1960"/>
              </a:lnSpc>
              <a:buNone/>
            </a:pPr>
            <a:r>
              <a:rPr lang="en-US" sz="1400" b="1" dirty="0">
                <a:solidFill>
                  <a:srgbClr val="14262A"/>
                </a:solidFill>
                <a:latin typeface="IBM Plex Sans" pitchFamily="34" charset="0"/>
                <a:ea typeface="IBM Plex Sans" pitchFamily="34" charset="-122"/>
                <a:cs typeface="IBM Plex Sans" pitchFamily="34" charset="-120"/>
              </a:rPr>
              <a:t>Read with care:</a:t>
            </a:r>
            <a:r>
              <a:rPr lang="en-US" sz="1400" dirty="0">
                <a:solidFill>
                  <a:srgbClr val="14262A"/>
                </a:solidFill>
                <a:latin typeface="IBM Plex Sans" pitchFamily="34" charset="0"/>
                <a:ea typeface="IBM Plex Sans" pitchFamily="34" charset="-122"/>
                <a:cs typeface="IBM Plex Sans" pitchFamily="34" charset="-120"/>
              </a:rPr>
              <a:t> the publisher states this public dataset is randomly generated, not real sales. Treat the findings as a method to repeat on our own data.</a:t>
            </a:r>
            <a:endParaRPr lang="en-US" sz="1400" dirty="0"/>
          </a:p>
        </p:txBody>
      </p:sp>
      <p:sp>
        <p:nvSpPr>
          <p:cNvPr id="13" name="Shape 11"/>
          <p:cNvSpPr/>
          <p:nvPr/>
        </p:nvSpPr>
        <p:spPr>
          <a:xfrm>
            <a:off x="812800" y="4587240"/>
            <a:ext cx="10566400" cy="853440"/>
          </a:xfrm>
          <a:custGeom>
            <a:avLst/>
            <a:gdLst/>
            <a:ahLst/>
            <a:cxnLst/>
            <a:rect l="l" t="t" r="r" b="b"/>
            <a:pathLst>
              <a:path w="10566400" h="853440">
                <a:moveTo>
                  <a:pt x="50800" y="853440"/>
                </a:moveTo>
                <a:lnTo>
                  <a:pt x="50800" y="853440"/>
                </a:lnTo>
                <a:arcTo hR="50800" wR="50800" stAng="5400000" swAng="5400000"/>
                <a:lnTo>
                  <a:pt x="0" y="50800"/>
                </a:lnTo>
                <a:arcTo hR="50800" wR="50800" stAng="10800000" swAng="5400000"/>
                <a:lnTo>
                  <a:pt x="50800" y="0"/>
                </a:lnTo>
                <a:lnTo>
                  <a:pt x="50800" y="853440"/>
                </a:lnTo>
                <a:close/>
              </a:path>
            </a:pathLst>
          </a:custGeom>
          <a:solidFill>
            <a:srgbClr val="B45309"/>
          </a:solidFill>
          <a:ln/>
        </p:spPr>
      </p:sp>
      <p:sp>
        <p:nvSpPr>
          <p:cNvPr id="14" name="Text 12"/>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E"/>
                </a:solidFill>
                <a:latin typeface="IBM Plex Sans" pitchFamily="34" charset="0"/>
                <a:ea typeface="IBM Plex Sans" pitchFamily="34" charset="-122"/>
                <a:cs typeface="IBM Plex Sans" pitchFamily="34" charset="-120"/>
              </a:rPr>
              <a:t>Source: 50000 Sales Records, Excel BI Analytics · Dataset is synthetic</a:t>
            </a:r>
            <a:endParaRPr lang="en-US" sz="1200" dirty="0"/>
          </a:p>
        </p:txBody>
      </p:sp>
      <p:sp>
        <p:nvSpPr>
          <p:cNvPr id="15" name="Text 13"/>
          <p:cNvSpPr/>
          <p:nvPr/>
        </p:nvSpPr>
        <p:spPr>
          <a:xfrm>
            <a:off x="10312400" y="6238241"/>
            <a:ext cx="1066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pitchFamily="34" charset="0"/>
                <a:ea typeface="IBM Plex Sans" pitchFamily="34" charset="-122"/>
                <a:cs typeface="IBM Plex Sans" pitchFamily="34" charset="-120"/>
              </a:rPr>
              <a:t>2 / 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62A"/>
                </a:solidFill>
                <a:latin typeface="EB Garamond" pitchFamily="18" charset="0"/>
                <a:ea typeface="EB Garamond" pitchFamily="18" charset="-122"/>
                <a:cs typeface="EB Garamond" pitchFamily="18" charset="-120"/>
              </a:rPr>
              <a:t>Four things management should know</a:t>
            </a:r>
            <a:endParaRPr lang="en-US" sz="3600" dirty="0"/>
          </a:p>
        </p:txBody>
      </p:sp>
      <p:sp>
        <p:nvSpPr>
          <p:cNvPr id="3" name="Shape 1"/>
          <p:cNvSpPr/>
          <p:nvPr/>
        </p:nvSpPr>
        <p:spPr>
          <a:xfrm>
            <a:off x="815975" y="1572895"/>
            <a:ext cx="5175250" cy="1779270"/>
          </a:xfrm>
          <a:prstGeom prst="roundRect">
            <a:avLst>
              <a:gd name="adj" fmla="val 5532"/>
            </a:avLst>
          </a:prstGeom>
          <a:solidFill>
            <a:srgbClr val="FFFDF8"/>
          </a:solidFill>
          <a:ln w="6350">
            <a:solidFill>
              <a:srgbClr val="D9D6CC"/>
            </a:solidFill>
            <a:prstDash val="solid"/>
          </a:ln>
        </p:spPr>
      </p:sp>
      <p:sp>
        <p:nvSpPr>
          <p:cNvPr id="4" name="Text 2"/>
          <p:cNvSpPr/>
          <p:nvPr/>
        </p:nvSpPr>
        <p:spPr>
          <a:xfrm>
            <a:off x="1071880" y="1803400"/>
            <a:ext cx="4803343"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0F766E"/>
                </a:solidFill>
                <a:latin typeface="EB Garamond" pitchFamily="18" charset="0"/>
                <a:ea typeface="EB Garamond" pitchFamily="18" charset="-122"/>
                <a:cs typeface="EB Garamond" pitchFamily="18" charset="-120"/>
              </a:rPr>
              <a:t>100%</a:t>
            </a:r>
            <a:endParaRPr lang="en-US" sz="3600" dirty="0"/>
          </a:p>
        </p:txBody>
      </p:sp>
      <p:sp>
        <p:nvSpPr>
          <p:cNvPr id="5" name="Text 3"/>
          <p:cNvSpPr/>
          <p:nvPr/>
        </p:nvSpPr>
        <p:spPr>
          <a:xfrm>
            <a:off x="1071880" y="23342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A"/>
                </a:solidFill>
                <a:latin typeface="IBM Plex Sans" pitchFamily="34" charset="0"/>
                <a:ea typeface="IBM Plex Sans" pitchFamily="34" charset="-122"/>
                <a:cs typeface="IBM Plex Sans" pitchFamily="34" charset="-120"/>
              </a:rPr>
              <a:t>Product decides margin</a:t>
            </a:r>
            <a:endParaRPr lang="en-US" sz="1800" dirty="0"/>
          </a:p>
        </p:txBody>
      </p:sp>
      <p:sp>
        <p:nvSpPr>
          <p:cNvPr id="6" name="Text 4"/>
          <p:cNvSpPr/>
          <p:nvPr/>
        </p:nvSpPr>
        <p:spPr>
          <a:xfrm>
            <a:off x="1071880" y="2659380"/>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D50"/>
                </a:solidFill>
                <a:latin typeface="IBM Plex Sans" pitchFamily="34" charset="0"/>
                <a:ea typeface="IBM Plex Sans" pitchFamily="34" charset="-122"/>
                <a:cs typeface="IBM Plex Sans" pitchFamily="34" charset="-120"/>
              </a:rPr>
              <a:t>Region, channel and priority explain under 0.01% of margin differences.</a:t>
            </a:r>
            <a:endParaRPr lang="en-US" sz="1300" dirty="0"/>
          </a:p>
        </p:txBody>
      </p:sp>
      <p:sp>
        <p:nvSpPr>
          <p:cNvPr id="7" name="Shape 5"/>
          <p:cNvSpPr/>
          <p:nvPr/>
        </p:nvSpPr>
        <p:spPr>
          <a:xfrm>
            <a:off x="6200775" y="1572895"/>
            <a:ext cx="5175250" cy="1779270"/>
          </a:xfrm>
          <a:prstGeom prst="roundRect">
            <a:avLst>
              <a:gd name="adj" fmla="val 5532"/>
            </a:avLst>
          </a:prstGeom>
          <a:solidFill>
            <a:srgbClr val="FFFDF8"/>
          </a:solidFill>
          <a:ln w="6350">
            <a:solidFill>
              <a:srgbClr val="D9D6CC"/>
            </a:solidFill>
            <a:prstDash val="solid"/>
          </a:ln>
        </p:spPr>
      </p:sp>
      <p:sp>
        <p:nvSpPr>
          <p:cNvPr id="8" name="Text 6"/>
          <p:cNvSpPr/>
          <p:nvPr/>
        </p:nvSpPr>
        <p:spPr>
          <a:xfrm>
            <a:off x="6456680" y="1803400"/>
            <a:ext cx="4803343"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B45309"/>
                </a:solidFill>
                <a:latin typeface="EB Garamond" pitchFamily="18" charset="0"/>
                <a:ea typeface="EB Garamond" pitchFamily="18" charset="-122"/>
                <a:cs typeface="EB Garamond" pitchFamily="18" charset="-120"/>
              </a:rPr>
              <a:t>34% → 19.5%</a:t>
            </a:r>
            <a:endParaRPr lang="en-US" sz="3600" dirty="0"/>
          </a:p>
        </p:txBody>
      </p:sp>
      <p:sp>
        <p:nvSpPr>
          <p:cNvPr id="9" name="Text 7"/>
          <p:cNvSpPr/>
          <p:nvPr/>
        </p:nvSpPr>
        <p:spPr>
          <a:xfrm>
            <a:off x="6456680" y="23342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A"/>
                </a:solidFill>
                <a:latin typeface="IBM Plex Sans" pitchFamily="34" charset="0"/>
                <a:ea typeface="IBM Plex Sans" pitchFamily="34" charset="-122"/>
                <a:cs typeface="IBM Plex Sans" pitchFamily="34" charset="-120"/>
              </a:rPr>
              <a:t>Revenue misleads</a:t>
            </a:r>
            <a:endParaRPr lang="en-US" sz="1800" dirty="0"/>
          </a:p>
        </p:txBody>
      </p:sp>
      <p:sp>
        <p:nvSpPr>
          <p:cNvPr id="10" name="Text 8"/>
          <p:cNvSpPr/>
          <p:nvPr/>
        </p:nvSpPr>
        <p:spPr>
          <a:xfrm>
            <a:off x="6456680" y="2659380"/>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D50"/>
                </a:solidFill>
                <a:latin typeface="IBM Plex Sans" pitchFamily="34" charset="0"/>
                <a:ea typeface="IBM Plex Sans" pitchFamily="34" charset="-122"/>
                <a:cs typeface="IBM Plex Sans" pitchFamily="34" charset="-120"/>
              </a:rPr>
              <a:t>Office Supplies and Meat are 34% of revenue but only 19.5% of profit.</a:t>
            </a:r>
            <a:endParaRPr lang="en-US" sz="1300" dirty="0"/>
          </a:p>
        </p:txBody>
      </p:sp>
      <p:sp>
        <p:nvSpPr>
          <p:cNvPr id="11" name="Shape 9"/>
          <p:cNvSpPr/>
          <p:nvPr/>
        </p:nvSpPr>
        <p:spPr>
          <a:xfrm>
            <a:off x="815975" y="3561716"/>
            <a:ext cx="5175250" cy="1779270"/>
          </a:xfrm>
          <a:prstGeom prst="roundRect">
            <a:avLst>
              <a:gd name="adj" fmla="val 5532"/>
            </a:avLst>
          </a:prstGeom>
          <a:solidFill>
            <a:srgbClr val="FFFDF8"/>
          </a:solidFill>
          <a:ln w="6350">
            <a:solidFill>
              <a:srgbClr val="D9D6CC"/>
            </a:solidFill>
            <a:prstDash val="solid"/>
          </a:ln>
        </p:spPr>
      </p:sp>
      <p:sp>
        <p:nvSpPr>
          <p:cNvPr id="12" name="Text 10"/>
          <p:cNvSpPr/>
          <p:nvPr/>
        </p:nvSpPr>
        <p:spPr>
          <a:xfrm>
            <a:off x="1071880" y="3792220"/>
            <a:ext cx="4803343"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0F766E"/>
                </a:solidFill>
                <a:latin typeface="EB Garamond" pitchFamily="18" charset="0"/>
                <a:ea typeface="EB Garamond" pitchFamily="18" charset="-122"/>
                <a:cs typeface="EB Garamond" pitchFamily="18" charset="-120"/>
              </a:rPr>
              <a:t>+0.3% a year</a:t>
            </a:r>
            <a:endParaRPr lang="en-US" sz="3600" dirty="0"/>
          </a:p>
        </p:txBody>
      </p:sp>
      <p:sp>
        <p:nvSpPr>
          <p:cNvPr id="13" name="Text 11"/>
          <p:cNvSpPr/>
          <p:nvPr/>
        </p:nvSpPr>
        <p:spPr>
          <a:xfrm>
            <a:off x="1071880" y="4323080"/>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A"/>
                </a:solidFill>
                <a:latin typeface="IBM Plex Sans" pitchFamily="34" charset="0"/>
                <a:ea typeface="IBM Plex Sans" pitchFamily="34" charset="-122"/>
                <a:cs typeface="IBM Plex Sans" pitchFamily="34" charset="-120"/>
              </a:rPr>
              <a:t>The business is flat</a:t>
            </a:r>
            <a:endParaRPr lang="en-US" sz="1800" dirty="0"/>
          </a:p>
        </p:txBody>
      </p:sp>
      <p:sp>
        <p:nvSpPr>
          <p:cNvPr id="14" name="Text 12"/>
          <p:cNvSpPr/>
          <p:nvPr/>
        </p:nvSpPr>
        <p:spPr>
          <a:xfrm>
            <a:off x="1071880" y="4648200"/>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D50"/>
                </a:solidFill>
                <a:latin typeface="IBM Plex Sans" pitchFamily="34" charset="0"/>
                <a:ea typeface="IBM Plex Sans" pitchFamily="34" charset="-122"/>
                <a:cs typeface="IBM Plex Sans" pitchFamily="34" charset="-120"/>
              </a:rPr>
              <a:t>Average growth 2010 to 2016. The 44% fall shown for 2017 is only seven months of data.</a:t>
            </a:r>
            <a:endParaRPr lang="en-US" sz="1300" dirty="0"/>
          </a:p>
        </p:txBody>
      </p:sp>
      <p:sp>
        <p:nvSpPr>
          <p:cNvPr id="15" name="Shape 13"/>
          <p:cNvSpPr/>
          <p:nvPr/>
        </p:nvSpPr>
        <p:spPr>
          <a:xfrm>
            <a:off x="6200775" y="3561716"/>
            <a:ext cx="5175250" cy="1779270"/>
          </a:xfrm>
          <a:prstGeom prst="roundRect">
            <a:avLst>
              <a:gd name="adj" fmla="val 5532"/>
            </a:avLst>
          </a:prstGeom>
          <a:solidFill>
            <a:srgbClr val="FFFDF8"/>
          </a:solidFill>
          <a:ln w="6350">
            <a:solidFill>
              <a:srgbClr val="D9D6CC"/>
            </a:solidFill>
            <a:prstDash val="solid"/>
          </a:ln>
        </p:spPr>
      </p:sp>
      <p:sp>
        <p:nvSpPr>
          <p:cNvPr id="16" name="Text 14"/>
          <p:cNvSpPr/>
          <p:nvPr/>
        </p:nvSpPr>
        <p:spPr>
          <a:xfrm>
            <a:off x="6456680" y="3792220"/>
            <a:ext cx="4803343"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B45309"/>
                </a:solidFill>
                <a:latin typeface="EB Garamond" pitchFamily="18" charset="0"/>
                <a:ea typeface="EB Garamond" pitchFamily="18" charset="-122"/>
                <a:cs typeface="EB Garamond" pitchFamily="18" charset="-120"/>
              </a:rPr>
              <a:t>25.0 vs 24.9 days</a:t>
            </a:r>
            <a:endParaRPr lang="en-US" sz="3600" dirty="0"/>
          </a:p>
        </p:txBody>
      </p:sp>
      <p:sp>
        <p:nvSpPr>
          <p:cNvPr id="17" name="Text 15"/>
          <p:cNvSpPr/>
          <p:nvPr/>
        </p:nvSpPr>
        <p:spPr>
          <a:xfrm>
            <a:off x="6456680" y="4323080"/>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A"/>
                </a:solidFill>
                <a:latin typeface="IBM Plex Sans" pitchFamily="34" charset="0"/>
                <a:ea typeface="IBM Plex Sans" pitchFamily="34" charset="-122"/>
                <a:cs typeface="IBM Plex Sans" pitchFamily="34" charset="-120"/>
              </a:rPr>
              <a:t>Priority is not honoured</a:t>
            </a:r>
            <a:endParaRPr lang="en-US" sz="1800" dirty="0"/>
          </a:p>
        </p:txBody>
      </p:sp>
      <p:sp>
        <p:nvSpPr>
          <p:cNvPr id="18" name="Text 16"/>
          <p:cNvSpPr/>
          <p:nvPr/>
        </p:nvSpPr>
        <p:spPr>
          <a:xfrm>
            <a:off x="6456680" y="4648200"/>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D50"/>
                </a:solidFill>
                <a:latin typeface="IBM Plex Sans" pitchFamily="34" charset="0"/>
                <a:ea typeface="IBM Plex Sans" pitchFamily="34" charset="-122"/>
                <a:cs typeface="IBM Plex Sans" pitchFamily="34" charset="-120"/>
              </a:rPr>
              <a:t>Critical orders ship in 25.0 days on average, Low orders in 24.9.</a:t>
            </a:r>
            <a:endParaRPr lang="en-US" sz="1300" dirty="0"/>
          </a:p>
        </p:txBody>
      </p:sp>
      <p:sp>
        <p:nvSpPr>
          <p:cNvPr id="19" name="Text 17"/>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E"/>
                </a:solidFill>
                <a:latin typeface="IBM Plex Sans" pitchFamily="34" charset="0"/>
                <a:ea typeface="IBM Plex Sans" pitchFamily="34" charset="-122"/>
                <a:cs typeface="IBM Plex Sans" pitchFamily="34" charset="-120"/>
              </a:rPr>
              <a:t>Source: 50000 Sales Records, Excel BI Analytics · Dataset is synthetic</a:t>
            </a:r>
            <a:endParaRPr lang="en-US" sz="1200" dirty="0"/>
          </a:p>
        </p:txBody>
      </p:sp>
      <p:sp>
        <p:nvSpPr>
          <p:cNvPr id="20" name="Text 18"/>
          <p:cNvSpPr/>
          <p:nvPr/>
        </p:nvSpPr>
        <p:spPr>
          <a:xfrm>
            <a:off x="10312400" y="6238241"/>
            <a:ext cx="1066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pitchFamily="34" charset="0"/>
                <a:ea typeface="IBM Plex Sans" pitchFamily="34" charset="-122"/>
                <a:cs typeface="IBM Plex Sans" pitchFamily="34" charset="-120"/>
              </a:rPr>
              <a:t>3 / 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62A"/>
                </a:solidFill>
                <a:latin typeface="EB Garamond" pitchFamily="18" charset="0"/>
                <a:ea typeface="EB Garamond" pitchFamily="18" charset="-122"/>
                <a:cs typeface="EB Garamond" pitchFamily="18" charset="-120"/>
              </a:rPr>
              <a:t>Revenue and profit tell different stories</a:t>
            </a:r>
            <a:endParaRPr lang="en-US" sz="3600" dirty="0"/>
          </a:p>
        </p:txBody>
      </p:sp>
      <p:sp>
        <p:nvSpPr>
          <p:cNvPr id="3" name="Shape 1"/>
          <p:cNvSpPr/>
          <p:nvPr/>
        </p:nvSpPr>
        <p:spPr>
          <a:xfrm>
            <a:off x="812800" y="1544320"/>
            <a:ext cx="5969000" cy="3448050"/>
          </a:xfrm>
          <a:prstGeom prst="roundRect">
            <a:avLst>
              <a:gd name="adj" fmla="val 2947"/>
            </a:avLst>
          </a:prstGeom>
          <a:solidFill>
            <a:srgbClr val="FFFFFF"/>
          </a:solidFill>
          <a:ln/>
        </p:spPr>
      </p:sp>
      <p:pic>
        <p:nvPicPr>
          <p:cNvPr id="4" name="Image 0" descr="Bar chart comparing each product category's share of revenue with its share of profit">    </p:cNvPr>
          <p:cNvPicPr>
            <a:picLocks noChangeAspect="1"/>
          </p:cNvPicPr>
          <p:nvPr/>
        </p:nvPicPr>
        <p:blipFill>
          <a:blip r:embed="rId1"/>
          <a:srcRect l="-88" r="-88" t="0" b="0"/>
          <a:stretch/>
        </p:blipFill>
        <p:spPr>
          <a:xfrm>
            <a:off x="819150" y="1550670"/>
            <a:ext cx="5956300" cy="3435350"/>
          </a:xfrm>
          <a:prstGeom prst="roundRect">
            <a:avLst>
              <a:gd name="adj" fmla="val 2773"/>
            </a:avLst>
          </a:prstGeom>
        </p:spPr>
      </p:pic>
      <p:sp>
        <p:nvSpPr>
          <p:cNvPr id="5" name="Shape 2"/>
          <p:cNvSpPr/>
          <p:nvPr/>
        </p:nvSpPr>
        <p:spPr>
          <a:xfrm>
            <a:off x="815975" y="1547495"/>
            <a:ext cx="5962650" cy="3441700"/>
          </a:xfrm>
          <a:prstGeom prst="roundRect">
            <a:avLst>
              <a:gd name="adj" fmla="val 2860"/>
            </a:avLst>
          </a:prstGeom>
          <a:noFill/>
          <a:ln w="6350">
            <a:solidFill>
              <a:srgbClr val="D9D6CC"/>
            </a:solidFill>
            <a:prstDash val="solid"/>
          </a:ln>
        </p:spPr>
      </p:sp>
      <p:sp>
        <p:nvSpPr>
          <p:cNvPr id="6" name="Shape 3"/>
          <p:cNvSpPr/>
          <p:nvPr/>
        </p:nvSpPr>
        <p:spPr>
          <a:xfrm>
            <a:off x="7086600" y="1544320"/>
            <a:ext cx="4292600" cy="1079500"/>
          </a:xfrm>
          <a:prstGeom prst="roundRect">
            <a:avLst>
              <a:gd name="adj" fmla="val 4706"/>
            </a:avLst>
          </a:prstGeom>
          <a:solidFill>
            <a:srgbClr val="FFFDF8"/>
          </a:solidFill>
          <a:ln/>
        </p:spPr>
      </p:sp>
      <p:sp>
        <p:nvSpPr>
          <p:cNvPr id="7" name="Shape 4"/>
          <p:cNvSpPr/>
          <p:nvPr/>
        </p:nvSpPr>
        <p:spPr>
          <a:xfrm>
            <a:off x="7086600" y="1544320"/>
            <a:ext cx="4292600" cy="1079500"/>
          </a:xfrm>
          <a:custGeom>
            <a:avLst/>
            <a:gdLst/>
            <a:ahLst/>
            <a:cxnLst/>
            <a:rect l="l" t="t" r="r" b="b"/>
            <a:pathLst>
              <a:path w="4292600" h="1079500">
                <a:moveTo>
                  <a:pt x="50800" y="1079500"/>
                </a:moveTo>
                <a:lnTo>
                  <a:pt x="50800" y="1079500"/>
                </a:lnTo>
                <a:arcTo hR="50800" wR="50800" stAng="5400000" swAng="5400000"/>
                <a:lnTo>
                  <a:pt x="0" y="50800"/>
                </a:lnTo>
                <a:arcTo hR="50800" wR="50800" stAng="10800000" swAng="5400000"/>
                <a:lnTo>
                  <a:pt x="50800" y="0"/>
                </a:lnTo>
                <a:lnTo>
                  <a:pt x="50800" y="1079500"/>
                </a:lnTo>
                <a:close/>
              </a:path>
            </a:pathLst>
          </a:custGeom>
          <a:solidFill>
            <a:srgbClr val="0F766E"/>
          </a:solidFill>
          <a:ln/>
        </p:spPr>
      </p:sp>
      <p:sp>
        <p:nvSpPr>
          <p:cNvPr id="8" name="Text 5"/>
          <p:cNvSpPr/>
          <p:nvPr/>
        </p:nvSpPr>
        <p:spPr>
          <a:xfrm>
            <a:off x="7340600" y="1696720"/>
            <a:ext cx="39504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A"/>
                </a:solidFill>
                <a:latin typeface="IBM Plex Sans" pitchFamily="34" charset="0"/>
                <a:ea typeface="IBM Plex Sans" pitchFamily="34" charset="-122"/>
                <a:cs typeface="IBM Plex Sans" pitchFamily="34" charset="-120"/>
              </a:rPr>
              <a:t>Cosmetics</a:t>
            </a:r>
            <a:endParaRPr lang="en-US" sz="1800" dirty="0"/>
          </a:p>
        </p:txBody>
      </p:sp>
      <p:sp>
        <p:nvSpPr>
          <p:cNvPr id="9" name="Text 6"/>
          <p:cNvSpPr/>
          <p:nvPr/>
        </p:nvSpPr>
        <p:spPr>
          <a:xfrm>
            <a:off x="7340600" y="2009141"/>
            <a:ext cx="39504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2A"/>
                </a:solidFill>
                <a:latin typeface="IBM Plex Sans" pitchFamily="34" charset="0"/>
                <a:ea typeface="IBM Plex Sans" pitchFamily="34" charset="-122"/>
                <a:cs typeface="IBM Plex Sans" pitchFamily="34" charset="-120"/>
              </a:rPr>
              <a:t>13.8% of revenue, 18.6% of profit. Our top profit category at a 39.8% margin.</a:t>
            </a:r>
            <a:endParaRPr lang="en-US" sz="1300" dirty="0"/>
          </a:p>
        </p:txBody>
      </p:sp>
      <p:sp>
        <p:nvSpPr>
          <p:cNvPr id="10" name="Shape 7"/>
          <p:cNvSpPr/>
          <p:nvPr/>
        </p:nvSpPr>
        <p:spPr>
          <a:xfrm>
            <a:off x="7086600" y="2776220"/>
            <a:ext cx="4292600" cy="1079500"/>
          </a:xfrm>
          <a:prstGeom prst="roundRect">
            <a:avLst>
              <a:gd name="adj" fmla="val 4706"/>
            </a:avLst>
          </a:prstGeom>
          <a:solidFill>
            <a:srgbClr val="FFFDF8"/>
          </a:solidFill>
          <a:ln/>
        </p:spPr>
      </p:sp>
      <p:sp>
        <p:nvSpPr>
          <p:cNvPr id="11" name="Shape 8"/>
          <p:cNvSpPr/>
          <p:nvPr/>
        </p:nvSpPr>
        <p:spPr>
          <a:xfrm>
            <a:off x="7086600" y="2776220"/>
            <a:ext cx="4292600" cy="1079500"/>
          </a:xfrm>
          <a:custGeom>
            <a:avLst/>
            <a:gdLst/>
            <a:ahLst/>
            <a:cxnLst/>
            <a:rect l="l" t="t" r="r" b="b"/>
            <a:pathLst>
              <a:path w="4292600" h="1079500">
                <a:moveTo>
                  <a:pt x="50800" y="1079500"/>
                </a:moveTo>
                <a:lnTo>
                  <a:pt x="50800" y="1079500"/>
                </a:lnTo>
                <a:arcTo hR="50800" wR="50800" stAng="5400000" swAng="5400000"/>
                <a:lnTo>
                  <a:pt x="0" y="50800"/>
                </a:lnTo>
                <a:arcTo hR="50800" wR="50800" stAng="10800000" swAng="5400000"/>
                <a:lnTo>
                  <a:pt x="50800" y="0"/>
                </a:lnTo>
                <a:lnTo>
                  <a:pt x="50800" y="1079500"/>
                </a:lnTo>
                <a:close/>
              </a:path>
            </a:pathLst>
          </a:custGeom>
          <a:solidFill>
            <a:srgbClr val="0F766E"/>
          </a:solidFill>
          <a:ln/>
        </p:spPr>
      </p:sp>
      <p:sp>
        <p:nvSpPr>
          <p:cNvPr id="12" name="Text 9"/>
          <p:cNvSpPr/>
          <p:nvPr/>
        </p:nvSpPr>
        <p:spPr>
          <a:xfrm>
            <a:off x="7340600" y="2928620"/>
            <a:ext cx="39504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A"/>
                </a:solidFill>
                <a:latin typeface="IBM Plex Sans" pitchFamily="34" charset="0"/>
                <a:ea typeface="IBM Plex Sans" pitchFamily="34" charset="-122"/>
                <a:cs typeface="IBM Plex Sans" pitchFamily="34" charset="-120"/>
              </a:rPr>
              <a:t>Clothes</a:t>
            </a:r>
            <a:endParaRPr lang="en-US" sz="1800" dirty="0"/>
          </a:p>
        </p:txBody>
      </p:sp>
      <p:sp>
        <p:nvSpPr>
          <p:cNvPr id="13" name="Text 10"/>
          <p:cNvSpPr/>
          <p:nvPr/>
        </p:nvSpPr>
        <p:spPr>
          <a:xfrm>
            <a:off x="7340600" y="3241041"/>
            <a:ext cx="39504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2A"/>
                </a:solidFill>
                <a:latin typeface="IBM Plex Sans" pitchFamily="34" charset="0"/>
                <a:ea typeface="IBM Plex Sans" pitchFamily="34" charset="-122"/>
                <a:cs typeface="IBM Plex Sans" pitchFamily="34" charset="-120"/>
              </a:rPr>
              <a:t>3.4% of revenue, 7.8% of profit. The highest margin in the range at 67.2%.</a:t>
            </a:r>
            <a:endParaRPr lang="en-US" sz="1300" dirty="0"/>
          </a:p>
        </p:txBody>
      </p:sp>
      <p:sp>
        <p:nvSpPr>
          <p:cNvPr id="14" name="Shape 11"/>
          <p:cNvSpPr/>
          <p:nvPr/>
        </p:nvSpPr>
        <p:spPr>
          <a:xfrm>
            <a:off x="7086600" y="4008120"/>
            <a:ext cx="4292600" cy="1079500"/>
          </a:xfrm>
          <a:prstGeom prst="roundRect">
            <a:avLst>
              <a:gd name="adj" fmla="val 4706"/>
            </a:avLst>
          </a:prstGeom>
          <a:solidFill>
            <a:srgbClr val="FFFDF8"/>
          </a:solidFill>
          <a:ln/>
        </p:spPr>
      </p:sp>
      <p:sp>
        <p:nvSpPr>
          <p:cNvPr id="15" name="Shape 12"/>
          <p:cNvSpPr/>
          <p:nvPr/>
        </p:nvSpPr>
        <p:spPr>
          <a:xfrm>
            <a:off x="7086600" y="4008120"/>
            <a:ext cx="4292600" cy="1079500"/>
          </a:xfrm>
          <a:custGeom>
            <a:avLst/>
            <a:gdLst/>
            <a:ahLst/>
            <a:cxnLst/>
            <a:rect l="l" t="t" r="r" b="b"/>
            <a:pathLst>
              <a:path w="4292600" h="1079500">
                <a:moveTo>
                  <a:pt x="50800" y="1079500"/>
                </a:moveTo>
                <a:lnTo>
                  <a:pt x="50800" y="1079500"/>
                </a:lnTo>
                <a:arcTo hR="50800" wR="50800" stAng="5400000" swAng="5400000"/>
                <a:lnTo>
                  <a:pt x="0" y="50800"/>
                </a:lnTo>
                <a:arcTo hR="50800" wR="50800" stAng="10800000" swAng="5400000"/>
                <a:lnTo>
                  <a:pt x="50800" y="0"/>
                </a:lnTo>
                <a:lnTo>
                  <a:pt x="50800" y="1079500"/>
                </a:lnTo>
                <a:close/>
              </a:path>
            </a:pathLst>
          </a:custGeom>
          <a:solidFill>
            <a:srgbClr val="B45309"/>
          </a:solidFill>
          <a:ln/>
        </p:spPr>
      </p:sp>
      <p:sp>
        <p:nvSpPr>
          <p:cNvPr id="16" name="Text 13"/>
          <p:cNvSpPr/>
          <p:nvPr/>
        </p:nvSpPr>
        <p:spPr>
          <a:xfrm>
            <a:off x="7340600" y="4160520"/>
            <a:ext cx="39504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A"/>
                </a:solidFill>
                <a:latin typeface="IBM Plex Sans" pitchFamily="34" charset="0"/>
                <a:ea typeface="IBM Plex Sans" pitchFamily="34" charset="-122"/>
                <a:cs typeface="IBM Plex Sans" pitchFamily="34" charset="-120"/>
              </a:rPr>
              <a:t>Meat</a:t>
            </a:r>
            <a:endParaRPr lang="en-US" sz="1800" dirty="0"/>
          </a:p>
        </p:txBody>
      </p:sp>
      <p:sp>
        <p:nvSpPr>
          <p:cNvPr id="17" name="Text 14"/>
          <p:cNvSpPr/>
          <p:nvPr/>
        </p:nvSpPr>
        <p:spPr>
          <a:xfrm>
            <a:off x="7340600" y="4472941"/>
            <a:ext cx="39504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2A"/>
                </a:solidFill>
                <a:latin typeface="IBM Plex Sans" pitchFamily="34" charset="0"/>
                <a:ea typeface="IBM Plex Sans" pitchFamily="34" charset="-122"/>
                <a:cs typeface="IBM Plex Sans" pitchFamily="34" charset="-120"/>
              </a:rPr>
              <a:t>13.3% of revenue, 6.1% of profit. The lowest margin at 13.6%.</a:t>
            </a:r>
            <a:endParaRPr lang="en-US" sz="1300" dirty="0"/>
          </a:p>
        </p:txBody>
      </p:sp>
      <p:sp>
        <p:nvSpPr>
          <p:cNvPr id="18" name="Text 15"/>
          <p:cNvSpPr/>
          <p:nvPr/>
        </p:nvSpPr>
        <p:spPr>
          <a:xfrm>
            <a:off x="812800" y="53162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766E"/>
                </a:solidFill>
                <a:latin typeface="IBM Plex Sans" pitchFamily="34" charset="0"/>
                <a:ea typeface="IBM Plex Sans" pitchFamily="34" charset="-122"/>
                <a:cs typeface="IBM Plex Sans" pitchFamily="34" charset="-120"/>
              </a:rPr>
              <a:t>Grow what earns. Fix what only sells.</a:t>
            </a:r>
            <a:endParaRPr lang="en-US" sz="1600" dirty="0"/>
          </a:p>
        </p:txBody>
      </p:sp>
      <p:sp>
        <p:nvSpPr>
          <p:cNvPr id="19" name="Text 16"/>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E"/>
                </a:solidFill>
                <a:latin typeface="IBM Plex Sans" pitchFamily="34" charset="0"/>
                <a:ea typeface="IBM Plex Sans" pitchFamily="34" charset="-122"/>
                <a:cs typeface="IBM Plex Sans" pitchFamily="34" charset="-120"/>
              </a:rPr>
              <a:t>Source: 50000 Sales Records, Excel BI Analytics · Dataset is synthetic</a:t>
            </a:r>
            <a:endParaRPr lang="en-US" sz="1200" dirty="0"/>
          </a:p>
        </p:txBody>
      </p:sp>
      <p:sp>
        <p:nvSpPr>
          <p:cNvPr id="20" name="Text 17"/>
          <p:cNvSpPr/>
          <p:nvPr/>
        </p:nvSpPr>
        <p:spPr>
          <a:xfrm>
            <a:off x="10312400" y="6238239"/>
            <a:ext cx="1066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pitchFamily="34" charset="0"/>
                <a:ea typeface="IBM Plex Sans" pitchFamily="34" charset="-122"/>
                <a:cs typeface="IBM Plex Sans" pitchFamily="34" charset="-120"/>
              </a:rPr>
              <a:t>4 / 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A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4F1EA"/>
                </a:solidFill>
                <a:latin typeface="EB Garamond" pitchFamily="18" charset="0"/>
                <a:ea typeface="EB Garamond" pitchFamily="18" charset="-122"/>
                <a:cs typeface="EB Garamond" pitchFamily="18" charset="-120"/>
              </a:rPr>
              <a:t>Three actions, in priority order</a:t>
            </a:r>
            <a:endParaRPr lang="en-US" sz="3600" dirty="0"/>
          </a:p>
        </p:txBody>
      </p:sp>
      <p:sp>
        <p:nvSpPr>
          <p:cNvPr id="3" name="Shape 1"/>
          <p:cNvSpPr/>
          <p:nvPr/>
        </p:nvSpPr>
        <p:spPr>
          <a:xfrm>
            <a:off x="812800" y="1620521"/>
            <a:ext cx="3386614" cy="2760980"/>
          </a:xfrm>
          <a:prstGeom prst="roundRect">
            <a:avLst>
              <a:gd name="adj" fmla="val 2760"/>
            </a:avLst>
          </a:prstGeom>
          <a:solidFill>
            <a:srgbClr val="16393E"/>
          </a:solidFill>
          <a:ln/>
        </p:spPr>
      </p:sp>
      <p:sp>
        <p:nvSpPr>
          <p:cNvPr id="4" name="Shape 2"/>
          <p:cNvSpPr/>
          <p:nvPr/>
        </p:nvSpPr>
        <p:spPr>
          <a:xfrm>
            <a:off x="812800" y="1620521"/>
            <a:ext cx="3386614" cy="2760980"/>
          </a:xfrm>
          <a:custGeom>
            <a:avLst/>
            <a:gdLst/>
            <a:ahLst/>
            <a:cxnLst/>
            <a:rect l="l" t="t" r="r" b="b"/>
            <a:pathLst>
              <a:path w="3386614" h="2760980">
                <a:moveTo>
                  <a:pt x="0" y="76200"/>
                </a:moveTo>
                <a:lnTo>
                  <a:pt x="0" y="76200"/>
                </a:lnTo>
                <a:arcTo hR="76200" wR="76200" stAng="10800000" swAng="5400000"/>
                <a:lnTo>
                  <a:pt x="3310414" y="0"/>
                </a:lnTo>
                <a:arcTo hR="76200" wR="76200" stAng="16200000" swAng="5400000"/>
                <a:lnTo>
                  <a:pt x="3386614" y="76200"/>
                </a:lnTo>
                <a:arcTo hR="38100" wR="76200" stAng="0" swAng="-5400000"/>
                <a:lnTo>
                  <a:pt x="76200" y="38100"/>
                </a:lnTo>
                <a:arcTo hR="38100" wR="76200" stAng="16200000" swAng="-5400000"/>
                <a:close/>
              </a:path>
            </a:pathLst>
          </a:custGeom>
          <a:solidFill>
            <a:srgbClr val="E8A33D"/>
          </a:solidFill>
          <a:ln/>
        </p:spPr>
      </p:sp>
      <p:sp>
        <p:nvSpPr>
          <p:cNvPr id="5" name="Text 3"/>
          <p:cNvSpPr/>
          <p:nvPr/>
        </p:nvSpPr>
        <p:spPr>
          <a:xfrm>
            <a:off x="1066800" y="1910082"/>
            <a:ext cx="296497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33D"/>
                </a:solidFill>
                <a:latin typeface="EB Garamond" pitchFamily="18" charset="0"/>
                <a:ea typeface="EB Garamond" pitchFamily="18" charset="-122"/>
                <a:cs typeface="EB Garamond" pitchFamily="18" charset="-120"/>
              </a:rPr>
              <a:t>1</a:t>
            </a:r>
            <a:endParaRPr lang="en-US" sz="3600" dirty="0"/>
          </a:p>
        </p:txBody>
      </p:sp>
      <p:sp>
        <p:nvSpPr>
          <p:cNvPr id="6" name="Text 4"/>
          <p:cNvSpPr/>
          <p:nvPr/>
        </p:nvSpPr>
        <p:spPr>
          <a:xfrm>
            <a:off x="1066800" y="2468882"/>
            <a:ext cx="2964972"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1EA"/>
                </a:solidFill>
                <a:latin typeface="IBM Plex Sans" pitchFamily="34" charset="0"/>
                <a:ea typeface="IBM Plex Sans" pitchFamily="34" charset="-122"/>
                <a:cs typeface="IBM Plex Sans" pitchFamily="34" charset="-120"/>
              </a:rPr>
              <a:t>Review price and cost on Meat and Office Supplies</a:t>
            </a:r>
            <a:endParaRPr lang="en-US" sz="1800" dirty="0"/>
          </a:p>
        </p:txBody>
      </p:sp>
      <p:sp>
        <p:nvSpPr>
          <p:cNvPr id="7" name="Text 5"/>
          <p:cNvSpPr/>
          <p:nvPr/>
        </p:nvSpPr>
        <p:spPr>
          <a:xfrm>
            <a:off x="1066800" y="3119121"/>
            <a:ext cx="296497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8D5"/>
                </a:solidFill>
                <a:latin typeface="IBM Plex Sans" pitchFamily="34" charset="0"/>
                <a:ea typeface="IBM Plex Sans" pitchFamily="34" charset="-122"/>
                <a:cs typeface="IBM Plex Sans" pitchFamily="34" charset="-120"/>
              </a:rPr>
              <a:t>Pilot a 2–3% price rise or a supplier cost deal in two regions, with matching regions as a control.</a:t>
            </a:r>
            <a:endParaRPr lang="en-US" sz="1300" dirty="0"/>
          </a:p>
        </p:txBody>
      </p:sp>
      <p:sp>
        <p:nvSpPr>
          <p:cNvPr id="8" name="Text 6"/>
          <p:cNvSpPr/>
          <p:nvPr/>
        </p:nvSpPr>
        <p:spPr>
          <a:xfrm>
            <a:off x="1066800" y="3914139"/>
            <a:ext cx="29649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5B1"/>
                </a:solidFill>
                <a:latin typeface="IBM Plex Sans" pitchFamily="34" charset="0"/>
                <a:ea typeface="IBM Plex Sans" pitchFamily="34" charset="-122"/>
                <a:cs typeface="IBM Plex Sans" pitchFamily="34" charset="-120"/>
              </a:rPr>
              <a:t>Owner: Pricing, Procurement</a:t>
            </a:r>
            <a:endParaRPr lang="en-US" sz="1200" dirty="0"/>
          </a:p>
        </p:txBody>
      </p:sp>
      <p:sp>
        <p:nvSpPr>
          <p:cNvPr id="9" name="Shape 7"/>
          <p:cNvSpPr/>
          <p:nvPr/>
        </p:nvSpPr>
        <p:spPr>
          <a:xfrm>
            <a:off x="4402614" y="1620521"/>
            <a:ext cx="3386693" cy="2760980"/>
          </a:xfrm>
          <a:prstGeom prst="roundRect">
            <a:avLst>
              <a:gd name="adj" fmla="val 2760"/>
            </a:avLst>
          </a:prstGeom>
          <a:solidFill>
            <a:srgbClr val="16393E"/>
          </a:solidFill>
          <a:ln/>
        </p:spPr>
      </p:sp>
      <p:sp>
        <p:nvSpPr>
          <p:cNvPr id="10" name="Shape 8"/>
          <p:cNvSpPr/>
          <p:nvPr/>
        </p:nvSpPr>
        <p:spPr>
          <a:xfrm>
            <a:off x="4402614" y="1620521"/>
            <a:ext cx="3386693" cy="2760980"/>
          </a:xfrm>
          <a:custGeom>
            <a:avLst/>
            <a:gdLst/>
            <a:ahLst/>
            <a:cxnLst/>
            <a:rect l="l" t="t" r="r" b="b"/>
            <a:pathLst>
              <a:path w="3386693" h="2760980">
                <a:moveTo>
                  <a:pt x="0" y="76200"/>
                </a:moveTo>
                <a:lnTo>
                  <a:pt x="0" y="76200"/>
                </a:lnTo>
                <a:arcTo hR="76200" wR="76200" stAng="10800000" swAng="5400000"/>
                <a:lnTo>
                  <a:pt x="3310493" y="0"/>
                </a:lnTo>
                <a:arcTo hR="76200" wR="76200" stAng="16200000" swAng="5400000"/>
                <a:lnTo>
                  <a:pt x="3386693" y="76200"/>
                </a:lnTo>
                <a:arcTo hR="38100" wR="76200" stAng="0" swAng="-5400000"/>
                <a:lnTo>
                  <a:pt x="76200" y="38100"/>
                </a:lnTo>
                <a:arcTo hR="38100" wR="76200" stAng="16200000" swAng="-5400000"/>
                <a:close/>
              </a:path>
            </a:pathLst>
          </a:custGeom>
          <a:solidFill>
            <a:srgbClr val="E8A33D"/>
          </a:solidFill>
          <a:ln/>
        </p:spPr>
      </p:sp>
      <p:sp>
        <p:nvSpPr>
          <p:cNvPr id="11" name="Text 9"/>
          <p:cNvSpPr/>
          <p:nvPr/>
        </p:nvSpPr>
        <p:spPr>
          <a:xfrm>
            <a:off x="4656614" y="1910082"/>
            <a:ext cx="296505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33D"/>
                </a:solidFill>
                <a:latin typeface="EB Garamond" pitchFamily="18" charset="0"/>
                <a:ea typeface="EB Garamond" pitchFamily="18" charset="-122"/>
                <a:cs typeface="EB Garamond" pitchFamily="18" charset="-120"/>
              </a:rPr>
              <a:t>2</a:t>
            </a:r>
            <a:endParaRPr lang="en-US" sz="3600" dirty="0"/>
          </a:p>
        </p:txBody>
      </p:sp>
      <p:sp>
        <p:nvSpPr>
          <p:cNvPr id="12" name="Text 10"/>
          <p:cNvSpPr/>
          <p:nvPr/>
        </p:nvSpPr>
        <p:spPr>
          <a:xfrm>
            <a:off x="4656614" y="2468882"/>
            <a:ext cx="2965054"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1EA"/>
                </a:solidFill>
                <a:latin typeface="IBM Plex Sans" pitchFamily="34" charset="0"/>
                <a:ea typeface="IBM Plex Sans" pitchFamily="34" charset="-122"/>
                <a:cs typeface="IBM Plex Sans" pitchFamily="34" charset="-120"/>
              </a:rPr>
              <a:t>Shift the mix toward high-margin products</a:t>
            </a:r>
            <a:endParaRPr lang="en-US" sz="1800" dirty="0"/>
          </a:p>
        </p:txBody>
      </p:sp>
      <p:sp>
        <p:nvSpPr>
          <p:cNvPr id="13" name="Text 11"/>
          <p:cNvSpPr/>
          <p:nvPr/>
        </p:nvSpPr>
        <p:spPr>
          <a:xfrm>
            <a:off x="4656614" y="3119121"/>
            <a:ext cx="296505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8D5"/>
                </a:solidFill>
                <a:latin typeface="IBM Plex Sans" pitchFamily="34" charset="0"/>
                <a:ea typeface="IBM Plex Sans" pitchFamily="34" charset="-122"/>
                <a:cs typeface="IBM Plex Sans" pitchFamily="34" charset="-120"/>
              </a:rPr>
              <a:t>Promote Cosmetics, Clothes, Cereal and Baby Food to existing accounts. Set category profit targets.</a:t>
            </a:r>
            <a:endParaRPr lang="en-US" sz="1300" dirty="0"/>
          </a:p>
        </p:txBody>
      </p:sp>
      <p:sp>
        <p:nvSpPr>
          <p:cNvPr id="14" name="Text 12"/>
          <p:cNvSpPr/>
          <p:nvPr/>
        </p:nvSpPr>
        <p:spPr>
          <a:xfrm>
            <a:off x="4656614" y="3914139"/>
            <a:ext cx="29650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5B1"/>
                </a:solidFill>
                <a:latin typeface="IBM Plex Sans" pitchFamily="34" charset="0"/>
                <a:ea typeface="IBM Plex Sans" pitchFamily="34" charset="-122"/>
                <a:cs typeface="IBM Plex Sans" pitchFamily="34" charset="-120"/>
              </a:rPr>
              <a:t>Owner: Commercial, Sales</a:t>
            </a:r>
            <a:endParaRPr lang="en-US" sz="1200" dirty="0"/>
          </a:p>
        </p:txBody>
      </p:sp>
      <p:sp>
        <p:nvSpPr>
          <p:cNvPr id="15" name="Shape 13"/>
          <p:cNvSpPr/>
          <p:nvPr/>
        </p:nvSpPr>
        <p:spPr>
          <a:xfrm>
            <a:off x="7992507" y="1620521"/>
            <a:ext cx="3386693" cy="2760980"/>
          </a:xfrm>
          <a:prstGeom prst="roundRect">
            <a:avLst>
              <a:gd name="adj" fmla="val 2760"/>
            </a:avLst>
          </a:prstGeom>
          <a:solidFill>
            <a:srgbClr val="16393E"/>
          </a:solidFill>
          <a:ln/>
        </p:spPr>
      </p:sp>
      <p:sp>
        <p:nvSpPr>
          <p:cNvPr id="16" name="Shape 14"/>
          <p:cNvSpPr/>
          <p:nvPr/>
        </p:nvSpPr>
        <p:spPr>
          <a:xfrm>
            <a:off x="7992507" y="1620521"/>
            <a:ext cx="3386693" cy="2760980"/>
          </a:xfrm>
          <a:custGeom>
            <a:avLst/>
            <a:gdLst/>
            <a:ahLst/>
            <a:cxnLst/>
            <a:rect l="l" t="t" r="r" b="b"/>
            <a:pathLst>
              <a:path w="3386693" h="2760980">
                <a:moveTo>
                  <a:pt x="0" y="76200"/>
                </a:moveTo>
                <a:lnTo>
                  <a:pt x="0" y="76200"/>
                </a:lnTo>
                <a:arcTo hR="76200" wR="76200" stAng="10800000" swAng="5400000"/>
                <a:lnTo>
                  <a:pt x="3310493" y="0"/>
                </a:lnTo>
                <a:arcTo hR="76200" wR="76200" stAng="16200000" swAng="5400000"/>
                <a:lnTo>
                  <a:pt x="3386693" y="76200"/>
                </a:lnTo>
                <a:arcTo hR="38100" wR="76200" stAng="0" swAng="-5400000"/>
                <a:lnTo>
                  <a:pt x="76200" y="38100"/>
                </a:lnTo>
                <a:arcTo hR="38100" wR="76200" stAng="16200000" swAng="-5400000"/>
                <a:close/>
              </a:path>
            </a:pathLst>
          </a:custGeom>
          <a:solidFill>
            <a:srgbClr val="E8A33D"/>
          </a:solidFill>
          <a:ln/>
        </p:spPr>
      </p:sp>
      <p:sp>
        <p:nvSpPr>
          <p:cNvPr id="17" name="Text 15"/>
          <p:cNvSpPr/>
          <p:nvPr/>
        </p:nvSpPr>
        <p:spPr>
          <a:xfrm>
            <a:off x="8246507" y="1910082"/>
            <a:ext cx="296505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33D"/>
                </a:solidFill>
                <a:latin typeface="EB Garamond" pitchFamily="18" charset="0"/>
                <a:ea typeface="EB Garamond" pitchFamily="18" charset="-122"/>
                <a:cs typeface="EB Garamond" pitchFamily="18" charset="-120"/>
              </a:rPr>
              <a:t>3</a:t>
            </a:r>
            <a:endParaRPr lang="en-US" sz="3600" dirty="0"/>
          </a:p>
        </p:txBody>
      </p:sp>
      <p:sp>
        <p:nvSpPr>
          <p:cNvPr id="18" name="Text 16"/>
          <p:cNvSpPr/>
          <p:nvPr/>
        </p:nvSpPr>
        <p:spPr>
          <a:xfrm>
            <a:off x="8246507" y="2468882"/>
            <a:ext cx="2965054"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1EA"/>
                </a:solidFill>
                <a:latin typeface="IBM Plex Sans" pitchFamily="34" charset="0"/>
                <a:ea typeface="IBM Plex Sans" pitchFamily="34" charset="-122"/>
                <a:cs typeface="IBM Plex Sans" pitchFamily="34" charset="-120"/>
              </a:rPr>
              <a:t>Make order priority mean something</a:t>
            </a:r>
            <a:endParaRPr lang="en-US" sz="1800" dirty="0"/>
          </a:p>
        </p:txBody>
      </p:sp>
      <p:sp>
        <p:nvSpPr>
          <p:cNvPr id="19" name="Text 17"/>
          <p:cNvSpPr/>
          <p:nvPr/>
        </p:nvSpPr>
        <p:spPr>
          <a:xfrm>
            <a:off x="8246507" y="3119121"/>
            <a:ext cx="296505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8D5"/>
                </a:solidFill>
                <a:latin typeface="IBM Plex Sans" pitchFamily="34" charset="0"/>
                <a:ea typeface="IBM Plex Sans" pitchFamily="34" charset="-122"/>
                <a:cs typeface="IBM Plex Sans" pitchFamily="34" charset="-120"/>
              </a:rPr>
              <a:t>Set shipping targets by priority and report them monthly, starting with the largest orders.</a:t>
            </a:r>
            <a:endParaRPr lang="en-US" sz="1300" dirty="0"/>
          </a:p>
        </p:txBody>
      </p:sp>
      <p:sp>
        <p:nvSpPr>
          <p:cNvPr id="20" name="Text 18"/>
          <p:cNvSpPr/>
          <p:nvPr/>
        </p:nvSpPr>
        <p:spPr>
          <a:xfrm>
            <a:off x="8246507" y="3914139"/>
            <a:ext cx="29650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5B1"/>
                </a:solidFill>
                <a:latin typeface="IBM Plex Sans" pitchFamily="34" charset="0"/>
                <a:ea typeface="IBM Plex Sans" pitchFamily="34" charset="-122"/>
                <a:cs typeface="IBM Plex Sans" pitchFamily="34" charset="-120"/>
              </a:rPr>
              <a:t>Owner: Operations</a:t>
            </a:r>
            <a:endParaRPr lang="en-US" sz="1200" dirty="0"/>
          </a:p>
        </p:txBody>
      </p:sp>
      <p:sp>
        <p:nvSpPr>
          <p:cNvPr id="21" name="Text 19"/>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5B1"/>
                </a:solidFill>
                <a:latin typeface="IBM Plex Sans" pitchFamily="34" charset="0"/>
                <a:ea typeface="IBM Plex Sans" pitchFamily="34" charset="-122"/>
                <a:cs typeface="IBM Plex Sans" pitchFamily="34" charset="-120"/>
              </a:rPr>
              <a:t>Confirm each on real company data before acting · Dataset is synthetic</a:t>
            </a:r>
            <a:endParaRPr lang="en-US" sz="1200" dirty="0"/>
          </a:p>
        </p:txBody>
      </p:sp>
      <p:sp>
        <p:nvSpPr>
          <p:cNvPr id="22" name="Text 20"/>
          <p:cNvSpPr/>
          <p:nvPr/>
        </p:nvSpPr>
        <p:spPr>
          <a:xfrm>
            <a:off x="10312400" y="6238239"/>
            <a:ext cx="1066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5B1"/>
                </a:solidFill>
                <a:latin typeface="IBM Plex Sans" pitchFamily="34" charset="0"/>
                <a:ea typeface="IBM Plex Sans" pitchFamily="34" charset="-122"/>
                <a:cs typeface="IBM Plex Sans" pitchFamily="34" charset="-120"/>
              </a:rPr>
              <a:t>5 / 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62A"/>
                </a:solidFill>
                <a:latin typeface="EB Garamond" pitchFamily="18" charset="0"/>
                <a:ea typeface="EB Garamond" pitchFamily="18" charset="-122"/>
                <a:cs typeface="EB Garamond" pitchFamily="18" charset="-120"/>
              </a:rPr>
              <a:t>What success could look like</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79881"/>
          <a:ext cx="10556240" cy="2280920"/>
        </p:xfrm>
        <a:graphic>
          <a:graphicData uri="http://schemas.openxmlformats.org/drawingml/2006/table">
            <a:tbl>
              <a:tblPr/>
              <a:tblGrid>
                <a:gridCol w="2533498"/>
                <a:gridCol w="3377997"/>
                <a:gridCol w="4644746"/>
              </a:tblGrid>
              <a:tr h="383540">
                <a:tc>
                  <a:txBody>
                    <a:bodyPr/>
                    <a:lstStyle/>
                    <a:p>
                      <a:pPr indent="0" marL="0">
                        <a:lnSpc>
                          <a:spcPts val="1960"/>
                        </a:lnSpc>
                        <a:buNone/>
                      </a:pPr>
                      <a:r>
                        <a:rPr lang="en-US" sz="1400" b="1" dirty="0">
                          <a:solidFill>
                            <a:srgbClr val="14262A"/>
                          </a:solidFill>
                          <a:latin typeface="IBM Plex Sans" pitchFamily="34" charset="0"/>
                          <a:ea typeface="IBM Plex Sans" pitchFamily="34" charset="-122"/>
                          <a:cs typeface="IBM Plex Sans" pitchFamily="34" charset="-120"/>
                        </a:rPr>
                        <a:t>Action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960"/>
                        </a:lnSpc>
                        <a:buNone/>
                      </a:pPr>
                      <a:r>
                        <a:rPr lang="en-US" sz="1400" b="1" dirty="0">
                          <a:solidFill>
                            <a:srgbClr val="14262A"/>
                          </a:solidFill>
                          <a:latin typeface="IBM Plex Sans" pitchFamily="34" charset="0"/>
                          <a:ea typeface="IBM Plex Sans" pitchFamily="34" charset="-122"/>
                          <a:cs typeface="IBM Plex Sans" pitchFamily="34" charset="-120"/>
                        </a:rPr>
                        <a:t>Possible upside, if volume holds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960"/>
                        </a:lnSpc>
                        <a:buNone/>
                      </a:pPr>
                      <a:r>
                        <a:rPr lang="en-US" sz="1400" b="1" dirty="0">
                          <a:solidFill>
                            <a:srgbClr val="14262A"/>
                          </a:solidFill>
                          <a:latin typeface="IBM Plex Sans" pitchFamily="34" charset="0"/>
                          <a:ea typeface="IBM Plex Sans" pitchFamily="34" charset="-122"/>
                          <a:cs typeface="IBM Plex Sans" pitchFamily="34" charset="-120"/>
                        </a:rPr>
                        <a:t>How we would measure 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632460">
                <a:tc>
                  <a:txBody>
                    <a:bodyPr/>
                    <a:lstStyle/>
                    <a:p>
                      <a:pPr indent="0" marL="0">
                        <a:lnSpc>
                          <a:spcPts val="1960"/>
                        </a:lnSpc>
                        <a:buNone/>
                      </a:pPr>
                      <a:r>
                        <a:rPr lang="en-US" sz="1400" dirty="0">
                          <a:solidFill>
                            <a:srgbClr val="14262A"/>
                          </a:solidFill>
                          <a:latin typeface="IBM Plex Sans" pitchFamily="34" charset="0"/>
                          <a:ea typeface="IBM Plex Sans" pitchFamily="34" charset="-122"/>
                          <a:cs typeface="IBM Plex Sans" pitchFamily="34" charset="-120"/>
                        </a:rPr>
                        <a:t>1. Price and cost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62A"/>
                          </a:solidFill>
                          <a:latin typeface="IBM Plex Sans" pitchFamily="34" charset="0"/>
                          <a:ea typeface="IBM Plex Sans" pitchFamily="34" charset="-122"/>
                          <a:cs typeface="IBM Plex Sans" pitchFamily="34" charset="-120"/>
                        </a:rPr>
                        <a:t>About $59M a year at +2%; $147M a year at +5% (5.7% of profit)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62A"/>
                          </a:solidFill>
                          <a:latin typeface="IBM Plex Sans" pitchFamily="34" charset="0"/>
                          <a:ea typeface="IBM Plex Sans" pitchFamily="34" charset="-122"/>
                          <a:cs typeface="IBM Plex Sans" pitchFamily="34" charset="-120"/>
                        </a:rPr>
                        <a:t>Margin on Meat (13.6%) and Office Supplies (19.4%); volume against control regions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632460">
                <a:tc>
                  <a:txBody>
                    <a:bodyPr/>
                    <a:lstStyle/>
                    <a:p>
                      <a:pPr indent="0" marL="0">
                        <a:lnSpc>
                          <a:spcPts val="1960"/>
                        </a:lnSpc>
                        <a:buNone/>
                      </a:pPr>
                      <a:r>
                        <a:rPr lang="en-US" sz="1400" dirty="0">
                          <a:solidFill>
                            <a:srgbClr val="14262A"/>
                          </a:solidFill>
                          <a:latin typeface="IBM Plex Sans" pitchFamily="34" charset="0"/>
                          <a:ea typeface="IBM Plex Sans" pitchFamily="34" charset="-122"/>
                          <a:cs typeface="IBM Plex Sans" pitchFamily="34" charset="-120"/>
                        </a:rPr>
                        <a:t>2. Mix shift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62A"/>
                          </a:solidFill>
                          <a:latin typeface="IBM Plex Sans" pitchFamily="34" charset="0"/>
                          <a:ea typeface="IBM Plex Sans" pitchFamily="34" charset="-122"/>
                          <a:cs typeface="IBM Plex Sans" pitchFamily="34" charset="-120"/>
                        </a:rPr>
                        <a:t>About $85M a year if 10% of Office Supplies sales moved to Clothes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62A"/>
                          </a:solidFill>
                          <a:latin typeface="IBM Plex Sans" pitchFamily="34" charset="0"/>
                          <a:ea typeface="IBM Plex Sans" pitchFamily="34" charset="-122"/>
                          <a:cs typeface="IBM Plex Sans" pitchFamily="34" charset="-120"/>
                        </a:rPr>
                        <a:t>Profit share of the four target categories (now 46%); overall margin (now 29.5%)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632460">
                <a:tc>
                  <a:txBody>
                    <a:bodyPr/>
                    <a:lstStyle/>
                    <a:p>
                      <a:pPr indent="0" marL="0">
                        <a:lnSpc>
                          <a:spcPts val="1960"/>
                        </a:lnSpc>
                        <a:buNone/>
                      </a:pPr>
                      <a:r>
                        <a:rPr lang="en-US" sz="1400" dirty="0">
                          <a:solidFill>
                            <a:srgbClr val="14262A"/>
                          </a:solidFill>
                          <a:latin typeface="IBM Plex Sans" pitchFamily="34" charset="0"/>
                          <a:ea typeface="IBM Plex Sans" pitchFamily="34" charset="-122"/>
                          <a:cs typeface="IBM Plex Sans" pitchFamily="34" charset="-120"/>
                        </a:rPr>
                        <a:t>3. Priority targets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62A"/>
                          </a:solidFill>
                          <a:latin typeface="IBM Plex Sans" pitchFamily="34" charset="0"/>
                          <a:ea typeface="IBM Plex Sans" pitchFamily="34" charset="-122"/>
                          <a:cs typeface="IBM Plex Sans" pitchFamily="34" charset="-120"/>
                        </a:rPr>
                        <a:t>Protects the 8.5% of orders that earn 28.5% of profit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62A"/>
                          </a:solidFill>
                          <a:latin typeface="IBM Plex Sans" pitchFamily="34" charset="0"/>
                          <a:ea typeface="IBM Plex Sans" pitchFamily="34" charset="-122"/>
                          <a:cs typeface="IBM Plex Sans" pitchFamily="34" charset="-120"/>
                        </a:rPr>
                        <a:t>Average days to ship by priority; share of Critical orders on 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4" name="Text 1"/>
          <p:cNvSpPr/>
          <p:nvPr/>
        </p:nvSpPr>
        <p:spPr>
          <a:xfrm>
            <a:off x="812800" y="4114800"/>
            <a:ext cx="98107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D50"/>
                </a:solidFill>
                <a:latin typeface="IBM Plex Sans" pitchFamily="34" charset="0"/>
                <a:ea typeface="IBM Plex Sans" pitchFamily="34" charset="-122"/>
                <a:cs typeface="IBM Plex Sans" pitchFamily="34" charset="-120"/>
              </a:rPr>
              <a:t>A 5% price rise on both categories still pays off unless volume falls by more than 27% (Meat) or 21% (Office Supplies). These are arithmetic sizings, not forecasts.</a:t>
            </a:r>
            <a:endParaRPr lang="en-US" sz="1400" dirty="0"/>
          </a:p>
        </p:txBody>
      </p:sp>
      <p:sp>
        <p:nvSpPr>
          <p:cNvPr id="5" name="Text 2"/>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E"/>
                </a:solidFill>
                <a:latin typeface="IBM Plex Sans" pitchFamily="34" charset="0"/>
                <a:ea typeface="IBM Plex Sans" pitchFamily="34" charset="-122"/>
                <a:cs typeface="IBM Plex Sans" pitchFamily="34" charset="-120"/>
              </a:rPr>
              <a:t>Source: analysis of 50000 Sales Records · Dataset is synthetic</a:t>
            </a:r>
            <a:endParaRPr lang="en-US" sz="1200" dirty="0"/>
          </a:p>
        </p:txBody>
      </p:sp>
      <p:sp>
        <p:nvSpPr>
          <p:cNvPr id="6" name="Text 3"/>
          <p:cNvSpPr/>
          <p:nvPr/>
        </p:nvSpPr>
        <p:spPr>
          <a:xfrm>
            <a:off x="10312400" y="6238239"/>
            <a:ext cx="1066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pitchFamily="34" charset="0"/>
                <a:ea typeface="IBM Plex Sans" pitchFamily="34" charset="-122"/>
                <a:cs typeface="IBM Plex Sans" pitchFamily="34" charset="-120"/>
              </a:rPr>
              <a:t>6 / 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62A"/>
                </a:solidFill>
                <a:latin typeface="EB Garamond" pitchFamily="18" charset="0"/>
                <a:ea typeface="EB Garamond" pitchFamily="18" charset="-122"/>
                <a:cs typeface="EB Garamond" pitchFamily="18" charset="-120"/>
              </a:rPr>
              <a:t>Be careful about this, then do this next</a:t>
            </a:r>
            <a:endParaRPr lang="en-US" sz="3600" dirty="0"/>
          </a:p>
        </p:txBody>
      </p:sp>
      <p:sp>
        <p:nvSpPr>
          <p:cNvPr id="3" name="Shape 1"/>
          <p:cNvSpPr/>
          <p:nvPr/>
        </p:nvSpPr>
        <p:spPr>
          <a:xfrm>
            <a:off x="812800" y="1620521"/>
            <a:ext cx="5181600" cy="2402840"/>
          </a:xfrm>
          <a:prstGeom prst="roundRect">
            <a:avLst>
              <a:gd name="adj" fmla="val 2114"/>
            </a:avLst>
          </a:prstGeom>
          <a:solidFill>
            <a:srgbClr val="FBE9CF"/>
          </a:solidFill>
          <a:ln/>
        </p:spPr>
      </p:sp>
      <p:sp>
        <p:nvSpPr>
          <p:cNvPr id="4" name="Shape 2"/>
          <p:cNvSpPr/>
          <p:nvPr/>
        </p:nvSpPr>
        <p:spPr>
          <a:xfrm>
            <a:off x="812800" y="1620521"/>
            <a:ext cx="5181600" cy="2402840"/>
          </a:xfrm>
          <a:custGeom>
            <a:avLst/>
            <a:gdLst/>
            <a:ahLst/>
            <a:cxnLst/>
            <a:rect l="l" t="t" r="r" b="b"/>
            <a:pathLst>
              <a:path w="5181600" h="2402840">
                <a:moveTo>
                  <a:pt x="50800" y="2402840"/>
                </a:moveTo>
                <a:lnTo>
                  <a:pt x="50800" y="2402840"/>
                </a:lnTo>
                <a:arcTo hR="50800" wR="50800" stAng="5400000" swAng="5400000"/>
                <a:lnTo>
                  <a:pt x="0" y="50800"/>
                </a:lnTo>
                <a:arcTo hR="50800" wR="50800" stAng="10800000" swAng="5400000"/>
                <a:lnTo>
                  <a:pt x="50800" y="0"/>
                </a:lnTo>
                <a:lnTo>
                  <a:pt x="50800" y="2402840"/>
                </a:lnTo>
                <a:close/>
              </a:path>
            </a:pathLst>
          </a:custGeom>
          <a:solidFill>
            <a:srgbClr val="B45309"/>
          </a:solidFill>
          <a:ln/>
        </p:spPr>
      </p:sp>
      <p:sp>
        <p:nvSpPr>
          <p:cNvPr id="5" name="Text 3"/>
          <p:cNvSpPr/>
          <p:nvPr/>
        </p:nvSpPr>
        <p:spPr>
          <a:xfrm>
            <a:off x="1117600" y="1874521"/>
            <a:ext cx="476148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A"/>
                </a:solidFill>
                <a:latin typeface="IBM Plex Sans" pitchFamily="34" charset="0"/>
                <a:ea typeface="IBM Plex Sans" pitchFamily="34" charset="-122"/>
                <a:cs typeface="IBM Plex Sans" pitchFamily="34" charset="-120"/>
              </a:rPr>
              <a:t>Be cautious</a:t>
            </a:r>
            <a:endParaRPr lang="en-US" sz="1800" dirty="0"/>
          </a:p>
        </p:txBody>
      </p:sp>
      <p:sp>
        <p:nvSpPr>
          <p:cNvPr id="6" name="Text 4"/>
          <p:cNvSpPr/>
          <p:nvPr/>
        </p:nvSpPr>
        <p:spPr>
          <a:xfrm>
            <a:off x="1195832" y="2275839"/>
            <a:ext cx="4675632" cy="151892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The data is randomly generated, so real markets may behave differently.</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Price and cost never vary within a product, so we cannot tell how customers react to price.</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2017 stops in July, so growth rates use 2010 to 2016.</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No customer, discount or return data.</a:t>
            </a:r>
            <a:endParaRPr lang="en-US" sz="1400" dirty="0"/>
          </a:p>
        </p:txBody>
      </p:sp>
      <p:sp>
        <p:nvSpPr>
          <p:cNvPr id="7" name="Shape 5"/>
          <p:cNvSpPr/>
          <p:nvPr/>
        </p:nvSpPr>
        <p:spPr>
          <a:xfrm>
            <a:off x="6197600" y="1620521"/>
            <a:ext cx="5181600" cy="2402840"/>
          </a:xfrm>
          <a:prstGeom prst="roundRect">
            <a:avLst>
              <a:gd name="adj" fmla="val 2114"/>
            </a:avLst>
          </a:prstGeom>
          <a:solidFill>
            <a:srgbClr val="FFFDF8"/>
          </a:solidFill>
          <a:ln/>
        </p:spPr>
      </p:sp>
      <p:sp>
        <p:nvSpPr>
          <p:cNvPr id="8" name="Shape 6"/>
          <p:cNvSpPr/>
          <p:nvPr/>
        </p:nvSpPr>
        <p:spPr>
          <a:xfrm>
            <a:off x="6197600" y="1620521"/>
            <a:ext cx="5181600" cy="2402840"/>
          </a:xfrm>
          <a:custGeom>
            <a:avLst/>
            <a:gdLst/>
            <a:ahLst/>
            <a:cxnLst/>
            <a:rect l="l" t="t" r="r" b="b"/>
            <a:pathLst>
              <a:path w="5181600" h="2402840">
                <a:moveTo>
                  <a:pt x="50800" y="2402840"/>
                </a:moveTo>
                <a:lnTo>
                  <a:pt x="50800" y="2402840"/>
                </a:lnTo>
                <a:arcTo hR="50800" wR="50800" stAng="5400000" swAng="5400000"/>
                <a:lnTo>
                  <a:pt x="0" y="50800"/>
                </a:lnTo>
                <a:arcTo hR="50800" wR="50800" stAng="10800000" swAng="5400000"/>
                <a:lnTo>
                  <a:pt x="50800" y="0"/>
                </a:lnTo>
                <a:lnTo>
                  <a:pt x="50800" y="2402840"/>
                </a:lnTo>
                <a:close/>
              </a:path>
            </a:pathLst>
          </a:custGeom>
          <a:solidFill>
            <a:srgbClr val="0F766E"/>
          </a:solidFill>
          <a:ln/>
        </p:spPr>
      </p:sp>
      <p:sp>
        <p:nvSpPr>
          <p:cNvPr id="9" name="Text 7"/>
          <p:cNvSpPr/>
          <p:nvPr/>
        </p:nvSpPr>
        <p:spPr>
          <a:xfrm>
            <a:off x="6502400" y="1874521"/>
            <a:ext cx="476148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A"/>
                </a:solidFill>
                <a:latin typeface="IBM Plex Sans" pitchFamily="34" charset="0"/>
                <a:ea typeface="IBM Plex Sans" pitchFamily="34" charset="-122"/>
                <a:cs typeface="IBM Plex Sans" pitchFamily="34" charset="-120"/>
              </a:rPr>
              <a:t>Analyse next</a:t>
            </a:r>
            <a:endParaRPr lang="en-US" sz="1800" dirty="0"/>
          </a:p>
        </p:txBody>
      </p:sp>
      <p:sp>
        <p:nvSpPr>
          <p:cNvPr id="10" name="Text 8"/>
          <p:cNvSpPr/>
          <p:nvPr/>
        </p:nvSpPr>
        <p:spPr>
          <a:xfrm>
            <a:off x="6580632" y="2275839"/>
            <a:ext cx="4675632" cy="151892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Repeat this analysis on real company sales.</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Add customer and discount data to test price response.</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Pull actual shipping targets and delays by priority.</a:t>
            </a:r>
            <a:endParaRPr lang="en-US" sz="1400" dirty="0"/>
          </a:p>
          <a:p>
            <a:pPr algn="l" marL="175768" indent="-175768">
              <a:lnSpc>
                <a:spcPts val="1960"/>
              </a:lnSpc>
              <a:buSzPct val="100000"/>
              <a:buChar char="•"/>
            </a:pPr>
            <a:r>
              <a:rPr lang="en-US" sz="1400" dirty="0">
                <a:solidFill>
                  <a:srgbClr val="14262A"/>
                </a:solidFill>
                <a:latin typeface="IBM Plex Sans" pitchFamily="34" charset="0"/>
                <a:ea typeface="IBM Plex Sans" pitchFamily="34" charset="-122"/>
                <a:cs typeface="IBM Plex Sans" pitchFamily="34" charset="-120"/>
              </a:rPr>
              <a:t>Run the price pilot and mix test before any wider rollout.</a:t>
            </a:r>
            <a:endParaRPr lang="en-US" sz="1400" dirty="0"/>
          </a:p>
        </p:txBody>
      </p:sp>
      <p:sp>
        <p:nvSpPr>
          <p:cNvPr id="11" name="Text 9"/>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E"/>
                </a:solidFill>
                <a:latin typeface="IBM Plex Sans" pitchFamily="34" charset="0"/>
                <a:ea typeface="IBM Plex Sans" pitchFamily="34" charset="-122"/>
                <a:cs typeface="IBM Plex Sans" pitchFamily="34" charset="-120"/>
              </a:rPr>
              <a:t>Source: analysis of 50000 Sales Records · Dataset is synthetic</a:t>
            </a:r>
            <a:endParaRPr lang="en-US" sz="1200" dirty="0"/>
          </a:p>
        </p:txBody>
      </p:sp>
      <p:sp>
        <p:nvSpPr>
          <p:cNvPr id="12" name="Text 10"/>
          <p:cNvSpPr/>
          <p:nvPr/>
        </p:nvSpPr>
        <p:spPr>
          <a:xfrm>
            <a:off x="10312400" y="6238239"/>
            <a:ext cx="1066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pitchFamily="34" charset="0"/>
                <a:ea typeface="IBM Plex Sans" pitchFamily="34" charset="-122"/>
                <a:cs typeface="IBM Plex Sans" pitchFamily="34" charset="-120"/>
              </a:rPr>
              <a:t>7 / 7</a:t>
            </a:r>
            <a:endParaRPr lang="en-US" sz="1200" dirty="0"/>
          </a:p>
        </p:txBody>
      </p:sp>
    </p:spTree>
  </p:cSld>
  <p:clrMapOvr>
    <a:masterClrMapping/>
  </p:clrMapOvr>
</p:sld>
</file>

<file path=ppt/theme/theme1.xml><?xml version="1.0" encoding="utf-8"?>
<a:theme xmlns:a="http://schemas.openxmlformats.org/drawingml/2006/main" name="Sales Profit Mix: Management Briefing">
  <a:themeElements>
    <a:clrScheme name="Sales Profit Mix: Management Briefing">
      <a:dk1>
        <a:srgbClr val="14262A"/>
      </a:dk1>
      <a:lt1>
        <a:srgbClr val="F6F4EE"/>
      </a:lt1>
      <a:dk2>
        <a:srgbClr val="4D5A5B"/>
      </a:dk2>
      <a:lt2>
        <a:srgbClr val="DFDFDA"/>
      </a:lt2>
      <a:accent1>
        <a:srgbClr val="0F766E"/>
      </a:accent1>
      <a:accent2>
        <a:srgbClr val="E8A33D"/>
      </a:accent2>
      <a:accent3>
        <a:srgbClr val="FBE9CF"/>
      </a:accent3>
      <a:accent4>
        <a:srgbClr val="B45309"/>
      </a:accent4>
      <a:accent5>
        <a:srgbClr val="5A6B6E"/>
      </a:accent5>
      <a:accent6>
        <a:srgbClr val="C9D8D5"/>
      </a:accent6>
      <a:hlink>
        <a:srgbClr val="0563C1"/>
      </a:hlink>
      <a:folHlink>
        <a:srgbClr val="954F72"/>
      </a:folHlink>
    </a:clrScheme>
    <a:fontScheme name="Sales Profit Mix: Management Brief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Profit Mix: Management Briefing</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2026-10-26T11:36:01Z</dcterms:created>
  <dcterms:modified xsi:type="dcterms:W3CDTF">2026-10-26T11:36:01Z</dcterms:modified>
</cp:coreProperties>
</file>